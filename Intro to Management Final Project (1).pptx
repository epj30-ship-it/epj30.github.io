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Open Sans" panose="020B0606030504020204" pitchFamily="34" charset="0"/>
      <p:regular r:id="rId23"/>
      <p:bold r:id="rId24"/>
      <p:italic r:id="rId25"/>
      <p:boldItalic r:id="rId26"/>
    </p:embeddedFont>
    <p:embeddedFont>
      <p:font typeface="PT Sans Narrow" panose="020B0506020203020204" pitchFamily="34" charset="77"/>
      <p:regular r:id="rId27"/>
      <p:bold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08"/>
    <p:restoredTop sz="94694"/>
  </p:normalViewPr>
  <p:slideViewPr>
    <p:cSldViewPr snapToGrid="0">
      <p:cViewPr varScale="1">
        <p:scale>
          <a:sx n="161" d="100"/>
          <a:sy n="161" d="100"/>
        </p:scale>
        <p:origin x="288"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96c2dda4e0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96c2dda4e0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96c2dda4e0_1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96c2dda4e0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96c2dda4e0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96c2dda4e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96c2dda4e0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96c2dda4e0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96c2dda4e0_1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96c2dda4e0_1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6c2dda4e0_1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96c2dda4e0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96c2dda4e0_1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96c2dda4e0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96c2dda4e0_1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96c2dda4e0_1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6c2dda4e0_1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6c2dda4e0_1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96c2dda4e0_1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96c2dda4e0_1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96c2dda4e0_1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96c2dda4e0_1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96c2dda4e0_1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96c2dda4e0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96c2dda4e0_1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96c2dda4e0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96c2dda4e0_1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96c2dda4e0_1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96c2dda4e0_1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96c2dda4e0_1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96c2dda4e0_1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96c2dda4e0_1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96c2dda4e0_1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96c2dda4e0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96c2dda4e0_1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96c2dda4e0_1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96c2dda4e0_1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96c2dda4e0_1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642638"/>
            <a:ext cx="562200" cy="0"/>
          </a:xfrm>
          <a:prstGeom prst="straightConnector1">
            <a:avLst/>
          </a:prstGeom>
          <a:noFill/>
          <a:ln w="76200" cap="flat" cmpd="sng">
            <a:solidFill>
              <a:srgbClr val="999999"/>
            </a:solidFill>
            <a:prstDash val="solid"/>
            <a:round/>
            <a:headEnd type="none" w="sm" len="sm"/>
            <a:tailEnd type="none" w="sm" len="sm"/>
          </a:ln>
        </p:spPr>
      </p:cxnSp>
      <p:cxnSp>
        <p:nvCxnSpPr>
          <p:cNvPr id="11" name="Google Shape;11;p2"/>
          <p:cNvCxnSpPr/>
          <p:nvPr/>
        </p:nvCxnSpPr>
        <p:spPr>
          <a:xfrm>
            <a:off x="1575035" y="3642652"/>
            <a:ext cx="562200" cy="0"/>
          </a:xfrm>
          <a:prstGeom prst="straightConnector1">
            <a:avLst/>
          </a:prstGeom>
          <a:noFill/>
          <a:ln w="76200" cap="flat" cmpd="sng">
            <a:solidFill>
              <a:srgbClr val="999999"/>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rgbClr val="990000"/>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rgbClr val="990000"/>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rgbClr val="990000"/>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rgbClr val="990000"/>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Clr>
                <a:srgbClr val="1F1F1F"/>
              </a:buClr>
              <a:buSzPts val="5400"/>
              <a:buNone/>
              <a:defRPr sz="5400">
                <a:solidFill>
                  <a:srgbClr val="1F1F1F"/>
                </a:solidFill>
              </a:defRPr>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rgbClr val="434343"/>
              </a:buClr>
              <a:buSzPts val="2400"/>
              <a:buNone/>
              <a:defRPr sz="2400">
                <a:solidFill>
                  <a:srgbClr val="434343"/>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rgbClr val="99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Clr>
                <a:srgbClr val="990000"/>
              </a:buClr>
              <a:buSzPts val="3600"/>
              <a:buNone/>
              <a:defRPr>
                <a:solidFill>
                  <a:srgbClr val="990000"/>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Clr>
                <a:srgbClr val="000000"/>
              </a:buClr>
              <a:buSzPts val="1800"/>
              <a:buChar char="●"/>
              <a:defRPr>
                <a:solidFill>
                  <a:srgbClr val="000000"/>
                </a:solidFill>
              </a:defRPr>
            </a:lvl1pPr>
            <a:lvl2pPr marL="914400" lvl="1" indent="-317500">
              <a:spcBef>
                <a:spcPts val="0"/>
              </a:spcBef>
              <a:spcAft>
                <a:spcPts val="0"/>
              </a:spcAft>
              <a:buClr>
                <a:srgbClr val="000000"/>
              </a:buClr>
              <a:buSzPts val="1400"/>
              <a:buChar char="○"/>
              <a:defRPr>
                <a:solidFill>
                  <a:srgbClr val="000000"/>
                </a:solidFill>
              </a:defRPr>
            </a:lvl2pPr>
            <a:lvl3pPr marL="1371600" lvl="2" indent="-317500">
              <a:spcBef>
                <a:spcPts val="0"/>
              </a:spcBef>
              <a:spcAft>
                <a:spcPts val="0"/>
              </a:spcAft>
              <a:buClr>
                <a:srgbClr val="000000"/>
              </a:buClr>
              <a:buSzPts val="1400"/>
              <a:buChar char="■"/>
              <a:defRPr>
                <a:solidFill>
                  <a:srgbClr val="000000"/>
                </a:solidFill>
              </a:defRPr>
            </a:lvl3pPr>
            <a:lvl4pPr marL="1828800" lvl="3" indent="-317500">
              <a:spcBef>
                <a:spcPts val="0"/>
              </a:spcBef>
              <a:spcAft>
                <a:spcPts val="0"/>
              </a:spcAft>
              <a:buClr>
                <a:srgbClr val="000000"/>
              </a:buClr>
              <a:buSzPts val="1400"/>
              <a:buChar char="●"/>
              <a:defRPr>
                <a:solidFill>
                  <a:srgbClr val="000000"/>
                </a:solidFill>
              </a:defRPr>
            </a:lvl4pPr>
            <a:lvl5pPr marL="2286000" lvl="4" indent="-317500">
              <a:spcBef>
                <a:spcPts val="0"/>
              </a:spcBef>
              <a:spcAft>
                <a:spcPts val="0"/>
              </a:spcAft>
              <a:buClr>
                <a:srgbClr val="000000"/>
              </a:buClr>
              <a:buSzPts val="1400"/>
              <a:buChar char="○"/>
              <a:defRPr>
                <a:solidFill>
                  <a:srgbClr val="000000"/>
                </a:solidFill>
              </a:defRPr>
            </a:lvl5pPr>
            <a:lvl6pPr marL="2743200" lvl="5" indent="-317500">
              <a:spcBef>
                <a:spcPts val="0"/>
              </a:spcBef>
              <a:spcAft>
                <a:spcPts val="0"/>
              </a:spcAft>
              <a:buClr>
                <a:srgbClr val="000000"/>
              </a:buClr>
              <a:buSzPts val="1400"/>
              <a:buChar char="■"/>
              <a:defRPr>
                <a:solidFill>
                  <a:srgbClr val="000000"/>
                </a:solidFill>
              </a:defRPr>
            </a:lvl6pPr>
            <a:lvl7pPr marL="3200400" lvl="6" indent="-317500">
              <a:spcBef>
                <a:spcPts val="0"/>
              </a:spcBef>
              <a:spcAft>
                <a:spcPts val="0"/>
              </a:spcAft>
              <a:buClr>
                <a:srgbClr val="000000"/>
              </a:buClr>
              <a:buSzPts val="1400"/>
              <a:buChar char="●"/>
              <a:defRPr>
                <a:solidFill>
                  <a:srgbClr val="000000"/>
                </a:solidFill>
              </a:defRPr>
            </a:lvl7pPr>
            <a:lvl8pPr marL="3657600" lvl="7" indent="-317500">
              <a:spcBef>
                <a:spcPts val="0"/>
              </a:spcBef>
              <a:spcAft>
                <a:spcPts val="0"/>
              </a:spcAft>
              <a:buClr>
                <a:srgbClr val="000000"/>
              </a:buClr>
              <a:buSzPts val="1400"/>
              <a:buChar char="○"/>
              <a:defRPr>
                <a:solidFill>
                  <a:srgbClr val="000000"/>
                </a:solidFill>
              </a:defRPr>
            </a:lvl8pPr>
            <a:lvl9pPr marL="4114800" lvl="8" indent="-317500">
              <a:spcBef>
                <a:spcPts val="0"/>
              </a:spcBef>
              <a:spcAft>
                <a:spcPts val="0"/>
              </a:spcAft>
              <a:buClr>
                <a:srgbClr val="000000"/>
              </a:buClr>
              <a:buSzPts val="1400"/>
              <a:buChar char="■"/>
              <a:defRPr>
                <a:solidFill>
                  <a:srgbClr val="000000"/>
                </a:solidFill>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Clr>
                <a:srgbClr val="990000"/>
              </a:buClr>
              <a:buSzPts val="3600"/>
              <a:buNone/>
              <a:defRPr>
                <a:solidFill>
                  <a:srgbClr val="990000"/>
                </a:solidFill>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rgbClr val="000000"/>
              </a:buClr>
              <a:buSzPts val="1400"/>
              <a:buChar char="●"/>
              <a:defRPr sz="1400">
                <a:solidFill>
                  <a:srgbClr val="000000"/>
                </a:solidFill>
              </a:defRPr>
            </a:lvl1pPr>
            <a:lvl2pPr marL="914400" lvl="1" indent="-304800">
              <a:spcBef>
                <a:spcPts val="0"/>
              </a:spcBef>
              <a:spcAft>
                <a:spcPts val="0"/>
              </a:spcAft>
              <a:buClr>
                <a:srgbClr val="000000"/>
              </a:buClr>
              <a:buSzPts val="1200"/>
              <a:buChar char="○"/>
              <a:defRPr sz="1200">
                <a:solidFill>
                  <a:srgbClr val="000000"/>
                </a:solidFill>
              </a:defRPr>
            </a:lvl2pPr>
            <a:lvl3pPr marL="1371600" lvl="2" indent="-304800">
              <a:spcBef>
                <a:spcPts val="0"/>
              </a:spcBef>
              <a:spcAft>
                <a:spcPts val="0"/>
              </a:spcAft>
              <a:buClr>
                <a:srgbClr val="000000"/>
              </a:buClr>
              <a:buSzPts val="1200"/>
              <a:buChar char="■"/>
              <a:defRPr sz="1200">
                <a:solidFill>
                  <a:srgbClr val="000000"/>
                </a:solidFill>
              </a:defRPr>
            </a:lvl3pPr>
            <a:lvl4pPr marL="1828800" lvl="3" indent="-304800">
              <a:spcBef>
                <a:spcPts val="0"/>
              </a:spcBef>
              <a:spcAft>
                <a:spcPts val="0"/>
              </a:spcAft>
              <a:buClr>
                <a:srgbClr val="000000"/>
              </a:buClr>
              <a:buSzPts val="1200"/>
              <a:buChar char="●"/>
              <a:defRPr sz="1200">
                <a:solidFill>
                  <a:srgbClr val="000000"/>
                </a:solidFill>
              </a:defRPr>
            </a:lvl4pPr>
            <a:lvl5pPr marL="2286000" lvl="4" indent="-304800">
              <a:spcBef>
                <a:spcPts val="0"/>
              </a:spcBef>
              <a:spcAft>
                <a:spcPts val="0"/>
              </a:spcAft>
              <a:buClr>
                <a:srgbClr val="000000"/>
              </a:buClr>
              <a:buSzPts val="1200"/>
              <a:buChar char="○"/>
              <a:defRPr sz="1200">
                <a:solidFill>
                  <a:srgbClr val="000000"/>
                </a:solidFill>
              </a:defRPr>
            </a:lvl5pPr>
            <a:lvl6pPr marL="2743200" lvl="5" indent="-304800">
              <a:spcBef>
                <a:spcPts val="0"/>
              </a:spcBef>
              <a:spcAft>
                <a:spcPts val="0"/>
              </a:spcAft>
              <a:buClr>
                <a:srgbClr val="000000"/>
              </a:buClr>
              <a:buSzPts val="1200"/>
              <a:buChar char="■"/>
              <a:defRPr sz="1200">
                <a:solidFill>
                  <a:srgbClr val="000000"/>
                </a:solidFill>
              </a:defRPr>
            </a:lvl6pPr>
            <a:lvl7pPr marL="3200400" lvl="6" indent="-304800">
              <a:spcBef>
                <a:spcPts val="0"/>
              </a:spcBef>
              <a:spcAft>
                <a:spcPts val="0"/>
              </a:spcAft>
              <a:buClr>
                <a:srgbClr val="000000"/>
              </a:buClr>
              <a:buSzPts val="1200"/>
              <a:buChar char="●"/>
              <a:defRPr sz="1200">
                <a:solidFill>
                  <a:srgbClr val="000000"/>
                </a:solidFill>
              </a:defRPr>
            </a:lvl7pPr>
            <a:lvl8pPr marL="3657600" lvl="7" indent="-304800">
              <a:spcBef>
                <a:spcPts val="0"/>
              </a:spcBef>
              <a:spcAft>
                <a:spcPts val="0"/>
              </a:spcAft>
              <a:buClr>
                <a:srgbClr val="000000"/>
              </a:buClr>
              <a:buSzPts val="1200"/>
              <a:buChar char="○"/>
              <a:defRPr sz="1200">
                <a:solidFill>
                  <a:srgbClr val="000000"/>
                </a:solidFill>
              </a:defRPr>
            </a:lvl8pPr>
            <a:lvl9pPr marL="4114800" lvl="8" indent="-304800">
              <a:spcBef>
                <a:spcPts val="0"/>
              </a:spcBef>
              <a:spcAft>
                <a:spcPts val="0"/>
              </a:spcAft>
              <a:buClr>
                <a:srgbClr val="000000"/>
              </a:buClr>
              <a:buSzPts val="1200"/>
              <a:buChar char="■"/>
              <a:defRPr sz="1200">
                <a:solidFill>
                  <a:srgbClr val="000000"/>
                </a:solidFill>
              </a:defRPr>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Clr>
                <a:srgbClr val="000000"/>
              </a:buClr>
              <a:buSzPts val="1400"/>
              <a:buChar char="●"/>
              <a:defRPr sz="1400">
                <a:solidFill>
                  <a:srgbClr val="000000"/>
                </a:solidFill>
              </a:defRPr>
            </a:lvl1pPr>
            <a:lvl2pPr marL="914400" lvl="1" indent="-304800">
              <a:spcBef>
                <a:spcPts val="0"/>
              </a:spcBef>
              <a:spcAft>
                <a:spcPts val="0"/>
              </a:spcAft>
              <a:buClr>
                <a:srgbClr val="000000"/>
              </a:buClr>
              <a:buSzPts val="1200"/>
              <a:buChar char="○"/>
              <a:defRPr sz="1200">
                <a:solidFill>
                  <a:srgbClr val="000000"/>
                </a:solidFill>
              </a:defRPr>
            </a:lvl2pPr>
            <a:lvl3pPr marL="1371600" lvl="2" indent="-304800">
              <a:spcBef>
                <a:spcPts val="0"/>
              </a:spcBef>
              <a:spcAft>
                <a:spcPts val="0"/>
              </a:spcAft>
              <a:buClr>
                <a:srgbClr val="000000"/>
              </a:buClr>
              <a:buSzPts val="1200"/>
              <a:buChar char="■"/>
              <a:defRPr sz="1200">
                <a:solidFill>
                  <a:srgbClr val="000000"/>
                </a:solidFill>
              </a:defRPr>
            </a:lvl3pPr>
            <a:lvl4pPr marL="1828800" lvl="3" indent="-304800">
              <a:spcBef>
                <a:spcPts val="0"/>
              </a:spcBef>
              <a:spcAft>
                <a:spcPts val="0"/>
              </a:spcAft>
              <a:buClr>
                <a:srgbClr val="000000"/>
              </a:buClr>
              <a:buSzPts val="1200"/>
              <a:buChar char="●"/>
              <a:defRPr sz="1200">
                <a:solidFill>
                  <a:srgbClr val="000000"/>
                </a:solidFill>
              </a:defRPr>
            </a:lvl4pPr>
            <a:lvl5pPr marL="2286000" lvl="4" indent="-304800">
              <a:spcBef>
                <a:spcPts val="0"/>
              </a:spcBef>
              <a:spcAft>
                <a:spcPts val="0"/>
              </a:spcAft>
              <a:buClr>
                <a:srgbClr val="000000"/>
              </a:buClr>
              <a:buSzPts val="1200"/>
              <a:buChar char="○"/>
              <a:defRPr sz="1200">
                <a:solidFill>
                  <a:srgbClr val="000000"/>
                </a:solidFill>
              </a:defRPr>
            </a:lvl5pPr>
            <a:lvl6pPr marL="2743200" lvl="5" indent="-304800">
              <a:spcBef>
                <a:spcPts val="0"/>
              </a:spcBef>
              <a:spcAft>
                <a:spcPts val="0"/>
              </a:spcAft>
              <a:buClr>
                <a:srgbClr val="000000"/>
              </a:buClr>
              <a:buSzPts val="1200"/>
              <a:buChar char="■"/>
              <a:defRPr sz="1200">
                <a:solidFill>
                  <a:srgbClr val="000000"/>
                </a:solidFill>
              </a:defRPr>
            </a:lvl6pPr>
            <a:lvl7pPr marL="3200400" lvl="6" indent="-304800">
              <a:spcBef>
                <a:spcPts val="0"/>
              </a:spcBef>
              <a:spcAft>
                <a:spcPts val="0"/>
              </a:spcAft>
              <a:buClr>
                <a:srgbClr val="000000"/>
              </a:buClr>
              <a:buSzPts val="1200"/>
              <a:buChar char="●"/>
              <a:defRPr sz="1200">
                <a:solidFill>
                  <a:srgbClr val="000000"/>
                </a:solidFill>
              </a:defRPr>
            </a:lvl7pPr>
            <a:lvl8pPr marL="3657600" lvl="7" indent="-304800">
              <a:spcBef>
                <a:spcPts val="0"/>
              </a:spcBef>
              <a:spcAft>
                <a:spcPts val="0"/>
              </a:spcAft>
              <a:buClr>
                <a:srgbClr val="000000"/>
              </a:buClr>
              <a:buSzPts val="1200"/>
              <a:buChar char="○"/>
              <a:defRPr sz="1200">
                <a:solidFill>
                  <a:srgbClr val="000000"/>
                </a:solidFill>
              </a:defRPr>
            </a:lvl8pPr>
            <a:lvl9pPr marL="4114800" lvl="8" indent="-304800">
              <a:spcBef>
                <a:spcPts val="0"/>
              </a:spcBef>
              <a:spcAft>
                <a:spcPts val="0"/>
              </a:spcAft>
              <a:buClr>
                <a:srgbClr val="000000"/>
              </a:buClr>
              <a:buSzPts val="1200"/>
              <a:buChar char="■"/>
              <a:defRPr sz="1200">
                <a:solidFill>
                  <a:srgbClr val="000000"/>
                </a:solidFill>
              </a:defRPr>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3650" y="1070264"/>
            <a:ext cx="7136700" cy="10224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Scarlet ReThreads</a:t>
            </a:r>
            <a:endParaRPr/>
          </a:p>
        </p:txBody>
      </p:sp>
      <p:sp>
        <p:nvSpPr>
          <p:cNvPr id="67" name="Google Shape;67;p13"/>
          <p:cNvSpPr txBox="1">
            <a:spLocks noGrp="1"/>
          </p:cNvSpPr>
          <p:nvPr>
            <p:ph type="subTitle" idx="1"/>
          </p:nvPr>
        </p:nvSpPr>
        <p:spPr>
          <a:xfrm>
            <a:off x="2136750" y="3212364"/>
            <a:ext cx="4870500" cy="792600"/>
          </a:xfrm>
          <a:prstGeom prst="rect">
            <a:avLst/>
          </a:prstGeom>
        </p:spPr>
        <p:txBody>
          <a:bodyPr spcFirstLastPara="1" wrap="square" lIns="91425" tIns="91425" rIns="91425" bIns="91425" anchor="t" anchorCtr="0">
            <a:normAutofit fontScale="85000" lnSpcReduction="10000"/>
          </a:bodyPr>
          <a:lstStyle/>
          <a:p>
            <a:pPr marL="0" lvl="0" indent="0" algn="ctr" rtl="0">
              <a:spcBef>
                <a:spcPts val="0"/>
              </a:spcBef>
              <a:spcAft>
                <a:spcPts val="0"/>
              </a:spcAft>
              <a:buNone/>
            </a:pPr>
            <a:r>
              <a:rPr lang="en"/>
              <a:t>Emily Jepsen, Darryl Bautista, Khushi Patel, and Michael Cicio Oliveira</a:t>
            </a:r>
            <a:endParaRPr/>
          </a:p>
        </p:txBody>
      </p:sp>
      <p:pic>
        <p:nvPicPr>
          <p:cNvPr id="68" name="Google Shape;68;p13"/>
          <p:cNvPicPr preferRelativeResize="0"/>
          <p:nvPr/>
        </p:nvPicPr>
        <p:blipFill rotWithShape="1">
          <a:blip r:embed="rId3">
            <a:alphaModFix/>
          </a:blip>
          <a:srcRect l="20871" t="15218" r="20537" b="22027"/>
          <a:stretch/>
        </p:blipFill>
        <p:spPr>
          <a:xfrm>
            <a:off x="3998537" y="1957550"/>
            <a:ext cx="1146925" cy="122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Business Concept</a:t>
            </a:r>
            <a:endParaRPr/>
          </a:p>
        </p:txBody>
      </p:sp>
      <p:sp>
        <p:nvSpPr>
          <p:cNvPr id="74" name="Google Shape;74;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Scarlet ReThreads is a student-run Rutgers thrift store focused on providing affordable, sustainable, and stylish clothing to the Rutgers community. The store curates gently used apparel, accessories, and Rutgers-themed items, giving students a budget-friendly alternative to traditional retail while promoting environmentally responsible shopping. By encouraging clothing reuse and offering unique, one-of-a-kind pieces, Scarlet ReThreads aims to reduce waste, support campus sustainability, and create a fun shopping experience tailored to student style. </a:t>
            </a: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Customer Value Proposition</a:t>
            </a:r>
            <a:endParaRPr/>
          </a:p>
        </p:txBody>
      </p:sp>
      <p:sp>
        <p:nvSpPr>
          <p:cNvPr id="80" name="Google Shape;80;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Scarlet ReThreads offers Rutgers students, staff, and alumni affordable, curated thrifted Rutgers merchandise that promotes school pride while supporting sustainability. By providing unique, budget-friendly apparel in an accessible campus environment, Scarlet ReThreads delivers a more sustainable and cost-effective alternative to traditional Rutgers retail.</a:t>
            </a:r>
            <a:endParaRPr/>
          </a:p>
          <a:p>
            <a:pPr marL="0" lvl="0" indent="0" algn="l" rtl="0">
              <a:spcBef>
                <a:spcPts val="1200"/>
              </a:spcBef>
              <a:spcAft>
                <a:spcPts val="12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840"/>
              <a:t>Vision Statement, Mission Statement, Statement of Core Values</a:t>
            </a:r>
            <a:endParaRPr sz="2840"/>
          </a:p>
        </p:txBody>
      </p:sp>
      <p:sp>
        <p:nvSpPr>
          <p:cNvPr id="86" name="Google Shape;86;p16"/>
          <p:cNvSpPr txBox="1">
            <a:spLocks noGrp="1"/>
          </p:cNvSpPr>
          <p:nvPr>
            <p:ph type="body" idx="1"/>
          </p:nvPr>
        </p:nvSpPr>
        <p:spPr>
          <a:xfrm>
            <a:off x="311700" y="1266325"/>
            <a:ext cx="8520600" cy="36696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b="1"/>
              <a:t>Vision: </a:t>
            </a:r>
            <a:r>
              <a:rPr lang="en"/>
              <a:t>To promote sustainable fashion and school pride by making Rutgers style accessible to everyone in the community.</a:t>
            </a:r>
            <a:endParaRPr/>
          </a:p>
          <a:p>
            <a:pPr marL="0" lvl="0" indent="0" algn="l" rtl="0">
              <a:spcBef>
                <a:spcPts val="1200"/>
              </a:spcBef>
              <a:spcAft>
                <a:spcPts val="0"/>
              </a:spcAft>
              <a:buNone/>
            </a:pPr>
            <a:r>
              <a:rPr lang="en" b="1"/>
              <a:t>Mission:</a:t>
            </a:r>
            <a:r>
              <a:rPr lang="en"/>
              <a:t> Scarlet ReThreads serves Rutgers students, staff, and alumni by offering affordable, curated thrifted Rutgers merchandise in an accessible and sustainable shopping environment that provides a unique, budget-friendly alternative to traditional campus retail.</a:t>
            </a:r>
            <a:endParaRPr/>
          </a:p>
          <a:p>
            <a:pPr marL="0" lvl="0" indent="0" algn="l" rtl="0">
              <a:spcBef>
                <a:spcPts val="1200"/>
              </a:spcBef>
              <a:spcAft>
                <a:spcPts val="1200"/>
              </a:spcAft>
              <a:buNone/>
            </a:pPr>
            <a:r>
              <a:rPr lang="en" b="1"/>
              <a:t>Statement of Core Values:  </a:t>
            </a:r>
            <a:r>
              <a:rPr lang="en"/>
              <a:t>Scarlet ReThreads is committed to accessibility, sustainability, community, and inclusivity. We keep prices affordable so anyone connected to Rutgers can show school pride. We promote sustainability through clothing reuse, donations, and reducing textile waste. We foster community by creating a space that connects the Rutgers network, and we maintain an inclusive environment that welcomes individuals of all backgrounds.</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Financial and Strategic Objectives</a:t>
            </a:r>
            <a:endParaRPr/>
          </a:p>
        </p:txBody>
      </p:sp>
      <p:sp>
        <p:nvSpPr>
          <p:cNvPr id="92" name="Google Shape;92;p17"/>
          <p:cNvSpPr txBox="1">
            <a:spLocks noGrp="1"/>
          </p:cNvSpPr>
          <p:nvPr>
            <p:ph type="body" idx="1"/>
          </p:nvPr>
        </p:nvSpPr>
        <p:spPr>
          <a:xfrm>
            <a:off x="311700" y="1266175"/>
            <a:ext cx="3999900" cy="37218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dirty="0"/>
              <a:t>Financial:</a:t>
            </a:r>
            <a:endParaRPr b="1" dirty="0"/>
          </a:p>
          <a:p>
            <a:pPr marL="457200" lvl="0" indent="-336550" algn="l" rtl="0">
              <a:spcBef>
                <a:spcPts val="1200"/>
              </a:spcBef>
              <a:spcAft>
                <a:spcPts val="0"/>
              </a:spcAft>
              <a:buSzPts val="1700"/>
              <a:buAutoNum type="arabicPeriod"/>
            </a:pPr>
            <a:r>
              <a:rPr lang="en" sz="1700" dirty="0"/>
              <a:t>Achieve $20,000 in total sales revenue by the end of the first 6 months of business</a:t>
            </a:r>
            <a:endParaRPr sz="1700" dirty="0"/>
          </a:p>
          <a:p>
            <a:pPr marL="457200" lvl="0" indent="-336550" algn="l" rtl="0">
              <a:spcBef>
                <a:spcPts val="0"/>
              </a:spcBef>
              <a:spcAft>
                <a:spcPts val="0"/>
              </a:spcAft>
              <a:buSzPts val="1700"/>
              <a:buAutoNum type="arabicPeriod"/>
            </a:pPr>
            <a:r>
              <a:rPr lang="en" sz="1700" dirty="0"/>
              <a:t>Reach monthly break-even profitability within half of the year of launching on the campus store</a:t>
            </a:r>
            <a:endParaRPr sz="1700" dirty="0"/>
          </a:p>
          <a:p>
            <a:pPr marL="457200" lvl="0" indent="-336550" algn="l" rtl="0">
              <a:spcBef>
                <a:spcPts val="0"/>
              </a:spcBef>
              <a:spcAft>
                <a:spcPts val="0"/>
              </a:spcAft>
              <a:buSzPts val="1700"/>
              <a:buAutoNum type="arabicPeriod"/>
            </a:pPr>
            <a:r>
              <a:rPr lang="en" sz="1700" dirty="0"/>
              <a:t>Secure $3,000 in startup funding through university grants, partnerships, or fundraising within the first 2 months.</a:t>
            </a:r>
            <a:endParaRPr sz="1700" dirty="0"/>
          </a:p>
        </p:txBody>
      </p:sp>
      <p:sp>
        <p:nvSpPr>
          <p:cNvPr id="93" name="Google Shape;93;p17"/>
          <p:cNvSpPr txBox="1">
            <a:spLocks noGrp="1"/>
          </p:cNvSpPr>
          <p:nvPr>
            <p:ph type="body" idx="2"/>
          </p:nvPr>
        </p:nvSpPr>
        <p:spPr>
          <a:xfrm>
            <a:off x="4832400" y="1236525"/>
            <a:ext cx="3999900" cy="37218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t>Strategic:</a:t>
            </a:r>
            <a:endParaRPr b="1" dirty="0"/>
          </a:p>
          <a:p>
            <a:pPr marL="457200" lvl="0" indent="-330200" algn="l" rtl="0">
              <a:spcBef>
                <a:spcPts val="1200"/>
              </a:spcBef>
              <a:spcAft>
                <a:spcPts val="0"/>
              </a:spcAft>
              <a:buSzPts val="1600"/>
              <a:buAutoNum type="arabicPeriod"/>
            </a:pPr>
            <a:r>
              <a:rPr lang="en" sz="1600" dirty="0"/>
              <a:t>Acquire at least 60 new customers per month in the first year through advertising, social media, and campus posters.</a:t>
            </a:r>
            <a:endParaRPr sz="1600" dirty="0"/>
          </a:p>
          <a:p>
            <a:pPr marL="457200" lvl="0" indent="-330200" algn="l" rtl="0">
              <a:spcBef>
                <a:spcPts val="0"/>
              </a:spcBef>
              <a:spcAft>
                <a:spcPts val="0"/>
              </a:spcAft>
              <a:buSzPts val="1600"/>
              <a:buAutoNum type="arabicPeriod"/>
            </a:pPr>
            <a:r>
              <a:rPr lang="en" sz="1600" dirty="0"/>
              <a:t>Collect at least 800 donated Rutgers merchandise items within the first academic year.</a:t>
            </a:r>
            <a:endParaRPr sz="1600" dirty="0"/>
          </a:p>
          <a:p>
            <a:pPr marL="457200" lvl="0" indent="-330200" algn="l" rtl="0">
              <a:spcBef>
                <a:spcPts val="0"/>
              </a:spcBef>
              <a:spcAft>
                <a:spcPts val="0"/>
              </a:spcAft>
              <a:buSzPts val="1600"/>
              <a:buAutoNum type="arabicPeriod"/>
            </a:pPr>
            <a:r>
              <a:rPr lang="en" sz="1600" dirty="0"/>
              <a:t>Have at least 25% of customers who visit our website make at least a $25 or more purchase within the first year of operation</a:t>
            </a:r>
            <a:endParaRPr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Corporate Social Responsibility  </a:t>
            </a:r>
            <a:endParaRPr/>
          </a:p>
        </p:txBody>
      </p:sp>
      <p:sp>
        <p:nvSpPr>
          <p:cNvPr id="99" name="Google Shape;99;p18"/>
          <p:cNvSpPr txBox="1">
            <a:spLocks noGrp="1"/>
          </p:cNvSpPr>
          <p:nvPr>
            <p:ph type="body" idx="1"/>
          </p:nvPr>
        </p:nvSpPr>
        <p:spPr>
          <a:xfrm>
            <a:off x="311700" y="1266325"/>
            <a:ext cx="8520600" cy="35658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sz="1908" b="1">
                <a:latin typeface="Calibri"/>
                <a:ea typeface="Calibri"/>
                <a:cs typeface="Calibri"/>
                <a:sym typeface="Calibri"/>
              </a:rPr>
              <a:t>Key Initiative: </a:t>
            </a:r>
            <a:r>
              <a:rPr lang="en" sz="1908">
                <a:latin typeface="Calibri"/>
                <a:ea typeface="Calibri"/>
                <a:cs typeface="Calibri"/>
                <a:sym typeface="Calibri"/>
              </a:rPr>
              <a:t>Clothing Donation Drives </a:t>
            </a:r>
            <a:endParaRPr sz="1908">
              <a:latin typeface="Calibri"/>
              <a:ea typeface="Calibri"/>
              <a:cs typeface="Calibri"/>
              <a:sym typeface="Calibri"/>
            </a:endParaRPr>
          </a:p>
          <a:p>
            <a:pPr marL="0" lvl="0" indent="0" algn="l" rtl="0">
              <a:spcBef>
                <a:spcPts val="0"/>
              </a:spcBef>
              <a:spcAft>
                <a:spcPts val="0"/>
              </a:spcAft>
              <a:buNone/>
            </a:pPr>
            <a:r>
              <a:rPr lang="en" sz="1908" b="1">
                <a:latin typeface="Calibri"/>
                <a:ea typeface="Calibri"/>
                <a:cs typeface="Calibri"/>
                <a:sym typeface="Calibri"/>
              </a:rPr>
              <a:t>Rationale: </a:t>
            </a:r>
            <a:r>
              <a:rPr lang="en" sz="1908">
                <a:latin typeface="Calibri"/>
                <a:ea typeface="Calibri"/>
                <a:cs typeface="Calibri"/>
                <a:sym typeface="Calibri"/>
              </a:rPr>
              <a:t>Encourages students and alumni to donate gently used rutgers merchandise, increases inventory, and promotes sustainable behavior on campus.</a:t>
            </a:r>
            <a:endParaRPr sz="1908">
              <a:latin typeface="Calibri"/>
              <a:ea typeface="Calibri"/>
              <a:cs typeface="Calibri"/>
              <a:sym typeface="Calibri"/>
            </a:endParaRPr>
          </a:p>
          <a:p>
            <a:pPr marL="0" lvl="0" indent="0" algn="l" rtl="0">
              <a:lnSpc>
                <a:spcPct val="100000"/>
              </a:lnSpc>
              <a:spcBef>
                <a:spcPts val="0"/>
              </a:spcBef>
              <a:spcAft>
                <a:spcPts val="0"/>
              </a:spcAft>
              <a:buNone/>
            </a:pPr>
            <a:endParaRPr sz="1908">
              <a:latin typeface="Calibri"/>
              <a:ea typeface="Calibri"/>
              <a:cs typeface="Calibri"/>
              <a:sym typeface="Calibri"/>
            </a:endParaRPr>
          </a:p>
          <a:p>
            <a:pPr marL="0" lvl="0" indent="0" algn="l" rtl="0">
              <a:spcBef>
                <a:spcPts val="0"/>
              </a:spcBef>
              <a:spcAft>
                <a:spcPts val="0"/>
              </a:spcAft>
              <a:buNone/>
            </a:pPr>
            <a:r>
              <a:rPr lang="en" sz="1908" b="1">
                <a:latin typeface="Calibri"/>
                <a:ea typeface="Calibri"/>
                <a:cs typeface="Calibri"/>
                <a:sym typeface="Calibri"/>
              </a:rPr>
              <a:t>Key Initiative: </a:t>
            </a:r>
            <a:r>
              <a:rPr lang="en" sz="1908">
                <a:latin typeface="Calibri"/>
                <a:ea typeface="Calibri"/>
                <a:cs typeface="Calibri"/>
                <a:sym typeface="Calibri"/>
              </a:rPr>
              <a:t>Partnerships</a:t>
            </a:r>
            <a:endParaRPr sz="1908">
              <a:latin typeface="Calibri"/>
              <a:ea typeface="Calibri"/>
              <a:cs typeface="Calibri"/>
              <a:sym typeface="Calibri"/>
            </a:endParaRPr>
          </a:p>
          <a:p>
            <a:pPr marL="0" lvl="0" indent="0" algn="l" rtl="0">
              <a:spcBef>
                <a:spcPts val="0"/>
              </a:spcBef>
              <a:spcAft>
                <a:spcPts val="0"/>
              </a:spcAft>
              <a:buNone/>
            </a:pPr>
            <a:r>
              <a:rPr lang="en" sz="1908" b="1">
                <a:latin typeface="Calibri"/>
                <a:ea typeface="Calibri"/>
                <a:cs typeface="Calibri"/>
                <a:sym typeface="Calibri"/>
              </a:rPr>
              <a:t>Rationale: </a:t>
            </a:r>
            <a:r>
              <a:rPr lang="en" sz="1908">
                <a:latin typeface="Calibri"/>
                <a:ea typeface="Calibri"/>
                <a:cs typeface="Calibri"/>
                <a:sym typeface="Calibri"/>
              </a:rPr>
              <a:t>Partnering with Rutgers sustainability offices or clubs strengthens credibility and integrates the store into existing campus environmental initiatives.</a:t>
            </a:r>
            <a:endParaRPr sz="1908">
              <a:latin typeface="Calibri"/>
              <a:ea typeface="Calibri"/>
              <a:cs typeface="Calibri"/>
              <a:sym typeface="Calibri"/>
            </a:endParaRPr>
          </a:p>
          <a:p>
            <a:pPr marL="0" lvl="0" indent="0" algn="l" rtl="0">
              <a:lnSpc>
                <a:spcPct val="100000"/>
              </a:lnSpc>
              <a:spcBef>
                <a:spcPts val="0"/>
              </a:spcBef>
              <a:spcAft>
                <a:spcPts val="0"/>
              </a:spcAft>
              <a:buNone/>
            </a:pPr>
            <a:endParaRPr sz="1908">
              <a:latin typeface="Calibri"/>
              <a:ea typeface="Calibri"/>
              <a:cs typeface="Calibri"/>
              <a:sym typeface="Calibri"/>
            </a:endParaRPr>
          </a:p>
          <a:p>
            <a:pPr marL="0" lvl="0" indent="0" algn="l" rtl="0">
              <a:spcBef>
                <a:spcPts val="0"/>
              </a:spcBef>
              <a:spcAft>
                <a:spcPts val="0"/>
              </a:spcAft>
              <a:buNone/>
            </a:pPr>
            <a:r>
              <a:rPr lang="en" sz="1908" b="1">
                <a:latin typeface="Calibri"/>
                <a:ea typeface="Calibri"/>
                <a:cs typeface="Calibri"/>
                <a:sym typeface="Calibri"/>
              </a:rPr>
              <a:t>Key Initiative: </a:t>
            </a:r>
            <a:r>
              <a:rPr lang="en" sz="1908">
                <a:latin typeface="Calibri"/>
                <a:ea typeface="Calibri"/>
                <a:cs typeface="Calibri"/>
                <a:sym typeface="Calibri"/>
              </a:rPr>
              <a:t>Student discount </a:t>
            </a:r>
            <a:endParaRPr sz="1908">
              <a:latin typeface="Calibri"/>
              <a:ea typeface="Calibri"/>
              <a:cs typeface="Calibri"/>
              <a:sym typeface="Calibri"/>
            </a:endParaRPr>
          </a:p>
          <a:p>
            <a:pPr marL="0" lvl="0" indent="0" algn="l" rtl="0">
              <a:spcBef>
                <a:spcPts val="0"/>
              </a:spcBef>
              <a:spcAft>
                <a:spcPts val="0"/>
              </a:spcAft>
              <a:buNone/>
            </a:pPr>
            <a:r>
              <a:rPr lang="en" sz="1908" b="1">
                <a:latin typeface="Calibri"/>
                <a:ea typeface="Calibri"/>
                <a:cs typeface="Calibri"/>
                <a:sym typeface="Calibri"/>
              </a:rPr>
              <a:t>Rationale: </a:t>
            </a:r>
            <a:r>
              <a:rPr lang="en" sz="1908">
                <a:latin typeface="Calibri"/>
                <a:ea typeface="Calibri"/>
                <a:cs typeface="Calibri"/>
                <a:sym typeface="Calibri"/>
              </a:rPr>
              <a:t>Offer discounts to low-income students and donate a portion of profits to campus causes or emergency funds.</a:t>
            </a:r>
            <a:endParaRPr sz="1908">
              <a:latin typeface="Calibri"/>
              <a:ea typeface="Calibri"/>
              <a:cs typeface="Calibri"/>
              <a:sym typeface="Calibri"/>
            </a:endParaRPr>
          </a:p>
          <a:p>
            <a:pPr marL="0" lvl="0" indent="0" algn="l" rtl="0">
              <a:lnSpc>
                <a:spcPct val="100000"/>
              </a:lnSpc>
              <a:spcBef>
                <a:spcPts val="0"/>
              </a:spcBef>
              <a:spcAft>
                <a:spcPts val="0"/>
              </a:spcAft>
              <a:buNone/>
            </a:pPr>
            <a:endParaRPr sz="1400">
              <a:latin typeface="Calibri"/>
              <a:ea typeface="Calibri"/>
              <a:cs typeface="Calibri"/>
              <a:sym typeface="Calibri"/>
            </a:endParaRPr>
          </a:p>
          <a:p>
            <a:pPr marL="0" lvl="0" indent="0" algn="l" rtl="0">
              <a:spcBef>
                <a:spcPts val="0"/>
              </a:spcBef>
              <a:spcAft>
                <a:spcPts val="1200"/>
              </a:spcAft>
              <a:buNone/>
            </a:pPr>
            <a:endParaRPr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New Product/Service</a:t>
            </a:r>
            <a:endParaRPr/>
          </a:p>
        </p:txBody>
      </p:sp>
      <p:sp>
        <p:nvSpPr>
          <p:cNvPr id="105" name="Google Shape;105;p19"/>
          <p:cNvSpPr txBox="1">
            <a:spLocks noGrp="1"/>
          </p:cNvSpPr>
          <p:nvPr>
            <p:ph type="body" idx="1"/>
          </p:nvPr>
        </p:nvSpPr>
        <p:spPr>
          <a:xfrm>
            <a:off x="311700" y="1254575"/>
            <a:ext cx="8520600" cy="33027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2500" b="1">
                <a:latin typeface="Calibri"/>
                <a:ea typeface="Calibri"/>
                <a:cs typeface="Calibri"/>
                <a:sym typeface="Calibri"/>
              </a:rPr>
              <a:t>Textbook Donations</a:t>
            </a:r>
            <a:endParaRPr sz="2500" b="1">
              <a:latin typeface="Calibri"/>
              <a:ea typeface="Calibri"/>
              <a:cs typeface="Calibri"/>
              <a:sym typeface="Calibri"/>
            </a:endParaRPr>
          </a:p>
          <a:p>
            <a:pPr marL="457200" lvl="0" indent="-387350" algn="l" rtl="0">
              <a:lnSpc>
                <a:spcPct val="100000"/>
              </a:lnSpc>
              <a:spcBef>
                <a:spcPts val="0"/>
              </a:spcBef>
              <a:spcAft>
                <a:spcPts val="0"/>
              </a:spcAft>
              <a:buSzPts val="2500"/>
              <a:buFont typeface="Calibri"/>
              <a:buChar char="-"/>
            </a:pPr>
            <a:r>
              <a:rPr lang="en" sz="2500">
                <a:latin typeface="Calibri"/>
                <a:ea typeface="Calibri"/>
                <a:cs typeface="Calibri"/>
                <a:sym typeface="Calibri"/>
              </a:rPr>
              <a:t>Students can donate gently used textbooks they no longer need, promoting sustainability and affordability. </a:t>
            </a:r>
            <a:endParaRPr sz="2500">
              <a:latin typeface="Calibri"/>
              <a:ea typeface="Calibri"/>
              <a:cs typeface="Calibri"/>
              <a:sym typeface="Calibri"/>
            </a:endParaRPr>
          </a:p>
          <a:p>
            <a:pPr marL="457200" lvl="0" indent="-387350" algn="l" rtl="0">
              <a:lnSpc>
                <a:spcPct val="100000"/>
              </a:lnSpc>
              <a:spcBef>
                <a:spcPts val="0"/>
              </a:spcBef>
              <a:spcAft>
                <a:spcPts val="0"/>
              </a:spcAft>
              <a:buSzPts val="2500"/>
              <a:buFont typeface="Calibri"/>
              <a:buChar char="-"/>
            </a:pPr>
            <a:r>
              <a:rPr lang="en" sz="2500">
                <a:latin typeface="Calibri"/>
                <a:ea typeface="Calibri"/>
                <a:cs typeface="Calibri"/>
                <a:sym typeface="Calibri"/>
              </a:rPr>
              <a:t>A dedicated in-store section with feature donated textbooks, allowing students to easily find materials for their course. </a:t>
            </a:r>
            <a:endParaRPr sz="2500">
              <a:latin typeface="Calibri"/>
              <a:ea typeface="Calibri"/>
              <a:cs typeface="Calibri"/>
              <a:sym typeface="Calibri"/>
            </a:endParaRPr>
          </a:p>
          <a:p>
            <a:pPr marL="457200" lvl="0" indent="-342900" algn="l" rtl="0">
              <a:lnSpc>
                <a:spcPct val="100000"/>
              </a:lnSpc>
              <a:spcBef>
                <a:spcPts val="0"/>
              </a:spcBef>
              <a:spcAft>
                <a:spcPts val="0"/>
              </a:spcAft>
              <a:buSzPts val="1800"/>
              <a:buFont typeface="Calibri"/>
              <a:buChar char="-"/>
            </a:pPr>
            <a:r>
              <a:rPr lang="en" sz="2500">
                <a:latin typeface="Calibri"/>
                <a:ea typeface="Calibri"/>
                <a:cs typeface="Calibri"/>
                <a:sym typeface="Calibri"/>
              </a:rPr>
              <a:t>Books will be organized by subject to ensure a simple, efficient, and accessible browsing experience.</a:t>
            </a:r>
            <a:r>
              <a:rPr lang="en">
                <a:latin typeface="Calibri"/>
                <a:ea typeface="Calibri"/>
                <a:cs typeface="Calibri"/>
                <a:sym typeface="Calibri"/>
              </a:rPr>
              <a:t> </a:t>
            </a:r>
            <a:endParaRPr>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3340"/>
              <a:t>National Expansion</a:t>
            </a:r>
            <a:endParaRPr sz="3340"/>
          </a:p>
          <a:p>
            <a:pPr marL="0" lvl="0" indent="0" algn="l" rtl="0">
              <a:spcBef>
                <a:spcPts val="0"/>
              </a:spcBef>
              <a:spcAft>
                <a:spcPts val="0"/>
              </a:spcAft>
              <a:buSzPts val="990"/>
              <a:buNone/>
            </a:pPr>
            <a:endParaRPr sz="3240"/>
          </a:p>
        </p:txBody>
      </p:sp>
      <p:sp>
        <p:nvSpPr>
          <p:cNvPr id="111" name="Google Shape;111;p2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0"/>
              </a:spcAft>
              <a:buNone/>
            </a:pPr>
            <a:r>
              <a:rPr lang="en" b="1"/>
              <a:t>Decision: </a:t>
            </a:r>
            <a:r>
              <a:rPr lang="en" sz="2000"/>
              <a:t>Yes</a:t>
            </a:r>
            <a:endParaRPr sz="2000"/>
          </a:p>
          <a:p>
            <a:pPr marL="0" lvl="0" indent="0" algn="l" rtl="0">
              <a:spcBef>
                <a:spcPts val="1200"/>
              </a:spcBef>
              <a:spcAft>
                <a:spcPts val="0"/>
              </a:spcAft>
              <a:buNone/>
            </a:pPr>
            <a:r>
              <a:rPr lang="en" b="1"/>
              <a:t>Approach: </a:t>
            </a:r>
            <a:r>
              <a:rPr lang="en" sz="2100">
                <a:latin typeface="Calibri"/>
                <a:ea typeface="Calibri"/>
                <a:cs typeface="Calibri"/>
                <a:sym typeface="Calibri"/>
              </a:rPr>
              <a:t>Franchise</a:t>
            </a:r>
            <a:endParaRPr sz="2100">
              <a:latin typeface="Calibri"/>
              <a:ea typeface="Calibri"/>
              <a:cs typeface="Calibri"/>
              <a:sym typeface="Calibri"/>
            </a:endParaRPr>
          </a:p>
          <a:p>
            <a:pPr marL="0" lvl="0" indent="0" algn="l" rtl="0">
              <a:spcBef>
                <a:spcPts val="1200"/>
              </a:spcBef>
              <a:spcAft>
                <a:spcPts val="1200"/>
              </a:spcAft>
              <a:buNone/>
            </a:pPr>
            <a:r>
              <a:rPr lang="en" b="1"/>
              <a:t>Rationale: </a:t>
            </a:r>
            <a:r>
              <a:rPr lang="en" sz="2100">
                <a:latin typeface="Calibri"/>
                <a:ea typeface="Calibri"/>
                <a:cs typeface="Calibri"/>
                <a:sym typeface="Calibri"/>
              </a:rPr>
              <a:t>Scarlet ReThreads is not Rutgers exclusive. The concept can be utilized in Universities all around the United States, and around the world as well. Expansion grows profit. Franchising allows the business to expand quickly across universities with lower costs and risk while keeping a consistent brand. Each campus can be run locally by students, making it easier to source thrift items and textbook donations while adapting to campus specific demand.</a:t>
            </a:r>
            <a:endParaRPr sz="21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Global Expansion</a:t>
            </a:r>
            <a:endParaRPr/>
          </a:p>
          <a:p>
            <a:pPr marL="0" lvl="0" indent="0" algn="l" rtl="0">
              <a:spcBef>
                <a:spcPts val="0"/>
              </a:spcBef>
              <a:spcAft>
                <a:spcPts val="0"/>
              </a:spcAft>
              <a:buNone/>
            </a:pPr>
            <a:endParaRPr/>
          </a:p>
        </p:txBody>
      </p:sp>
      <p:sp>
        <p:nvSpPr>
          <p:cNvPr id="117" name="Google Shape;117;p21"/>
          <p:cNvSpPr txBox="1">
            <a:spLocks noGrp="1"/>
          </p:cNvSpPr>
          <p:nvPr>
            <p:ph type="body" idx="1"/>
          </p:nvPr>
        </p:nvSpPr>
        <p:spPr>
          <a:xfrm>
            <a:off x="311700" y="1266325"/>
            <a:ext cx="8421600" cy="3595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88"/>
              <a:buNone/>
            </a:pPr>
            <a:r>
              <a:rPr lang="en" sz="1700" b="1">
                <a:latin typeface="Calibri"/>
                <a:ea typeface="Calibri"/>
                <a:cs typeface="Calibri"/>
                <a:sym typeface="Calibri"/>
              </a:rPr>
              <a:t>Selected Country: </a:t>
            </a:r>
            <a:r>
              <a:rPr lang="en" sz="1700">
                <a:latin typeface="Calibri"/>
                <a:ea typeface="Calibri"/>
                <a:cs typeface="Calibri"/>
                <a:sym typeface="Calibri"/>
              </a:rPr>
              <a:t>Canada</a:t>
            </a:r>
            <a:endParaRPr sz="1700">
              <a:latin typeface="Calibri"/>
              <a:ea typeface="Calibri"/>
              <a:cs typeface="Calibri"/>
              <a:sym typeface="Calibri"/>
            </a:endParaRPr>
          </a:p>
          <a:p>
            <a:pPr marL="0" lvl="0" indent="0" algn="l" rtl="0">
              <a:lnSpc>
                <a:spcPct val="95000"/>
              </a:lnSpc>
              <a:spcBef>
                <a:spcPts val="1200"/>
              </a:spcBef>
              <a:spcAft>
                <a:spcPts val="0"/>
              </a:spcAft>
              <a:buSzPts val="688"/>
              <a:buNone/>
            </a:pPr>
            <a:r>
              <a:rPr lang="en" sz="1700" b="1">
                <a:latin typeface="Calibri"/>
                <a:ea typeface="Calibri"/>
                <a:cs typeface="Calibri"/>
                <a:sym typeface="Calibri"/>
              </a:rPr>
              <a:t>Opportunities: </a:t>
            </a:r>
            <a:endParaRPr sz="1700" b="1">
              <a:latin typeface="Calibri"/>
              <a:ea typeface="Calibri"/>
              <a:cs typeface="Calibri"/>
              <a:sym typeface="Calibri"/>
            </a:endParaRPr>
          </a:p>
          <a:p>
            <a:pPr marL="457200" lvl="0" indent="-336550" algn="just" rtl="0">
              <a:lnSpc>
                <a:spcPct val="80000"/>
              </a:lnSpc>
              <a:spcBef>
                <a:spcPts val="1200"/>
              </a:spcBef>
              <a:spcAft>
                <a:spcPts val="0"/>
              </a:spcAft>
              <a:buSzPts val="1700"/>
              <a:buFont typeface="Calibri"/>
              <a:buChar char="-"/>
            </a:pPr>
            <a:r>
              <a:rPr lang="en" sz="1700">
                <a:latin typeface="Calibri"/>
                <a:ea typeface="Calibri"/>
                <a:cs typeface="Calibri"/>
                <a:sym typeface="Calibri"/>
              </a:rPr>
              <a:t>Similar culture to the US </a:t>
            </a:r>
            <a:endParaRPr sz="1700">
              <a:latin typeface="Calibri"/>
              <a:ea typeface="Calibri"/>
              <a:cs typeface="Calibri"/>
              <a:sym typeface="Calibri"/>
            </a:endParaRPr>
          </a:p>
          <a:p>
            <a:pPr marL="457200" lvl="0" indent="-336550" algn="just" rtl="0">
              <a:lnSpc>
                <a:spcPct val="80000"/>
              </a:lnSpc>
              <a:spcBef>
                <a:spcPts val="0"/>
              </a:spcBef>
              <a:spcAft>
                <a:spcPts val="0"/>
              </a:spcAft>
              <a:buSzPts val="1700"/>
              <a:buFont typeface="Calibri"/>
              <a:buChar char="-"/>
            </a:pPr>
            <a:r>
              <a:rPr lang="en" sz="1700">
                <a:latin typeface="Calibri"/>
                <a:ea typeface="Calibri"/>
                <a:cs typeface="Calibri"/>
                <a:sym typeface="Calibri"/>
              </a:rPr>
              <a:t>Low political risk </a:t>
            </a:r>
            <a:endParaRPr sz="1700">
              <a:latin typeface="Calibri"/>
              <a:ea typeface="Calibri"/>
              <a:cs typeface="Calibri"/>
              <a:sym typeface="Calibri"/>
            </a:endParaRPr>
          </a:p>
          <a:p>
            <a:pPr marL="457200" lvl="0" indent="-336550" algn="just" rtl="0">
              <a:lnSpc>
                <a:spcPct val="95000"/>
              </a:lnSpc>
              <a:spcBef>
                <a:spcPts val="0"/>
              </a:spcBef>
              <a:spcAft>
                <a:spcPts val="0"/>
              </a:spcAft>
              <a:buSzPts val="1700"/>
              <a:buFont typeface="Calibri"/>
              <a:buChar char="-"/>
            </a:pPr>
            <a:r>
              <a:rPr lang="en" sz="1700">
                <a:latin typeface="Calibri"/>
                <a:ea typeface="Calibri"/>
                <a:cs typeface="Calibri"/>
                <a:sym typeface="Calibri"/>
              </a:rPr>
              <a:t>Easy market entry for U.S. Based companies</a:t>
            </a:r>
            <a:endParaRPr sz="1700">
              <a:latin typeface="Calibri"/>
              <a:ea typeface="Calibri"/>
              <a:cs typeface="Calibri"/>
              <a:sym typeface="Calibri"/>
            </a:endParaRPr>
          </a:p>
          <a:p>
            <a:pPr marL="457200" lvl="0" indent="-336550" algn="just" rtl="0">
              <a:lnSpc>
                <a:spcPct val="80000"/>
              </a:lnSpc>
              <a:spcBef>
                <a:spcPts val="0"/>
              </a:spcBef>
              <a:spcAft>
                <a:spcPts val="0"/>
              </a:spcAft>
              <a:buSzPts val="1700"/>
              <a:buFont typeface="Calibri"/>
              <a:buChar char="-"/>
            </a:pPr>
            <a:r>
              <a:rPr lang="en" sz="1700">
                <a:latin typeface="Calibri"/>
                <a:ea typeface="Calibri"/>
                <a:cs typeface="Calibri"/>
                <a:sym typeface="Calibri"/>
              </a:rPr>
              <a:t>Strong economy </a:t>
            </a:r>
            <a:endParaRPr sz="1700">
              <a:latin typeface="Calibri"/>
              <a:ea typeface="Calibri"/>
              <a:cs typeface="Calibri"/>
              <a:sym typeface="Calibri"/>
            </a:endParaRPr>
          </a:p>
          <a:p>
            <a:pPr marL="457200" lvl="0" indent="-336550" algn="just" rtl="0">
              <a:lnSpc>
                <a:spcPct val="80000"/>
              </a:lnSpc>
              <a:spcBef>
                <a:spcPts val="0"/>
              </a:spcBef>
              <a:spcAft>
                <a:spcPts val="0"/>
              </a:spcAft>
              <a:buSzPts val="1700"/>
              <a:buFont typeface="Calibri"/>
              <a:buChar char="-"/>
            </a:pPr>
            <a:r>
              <a:rPr lang="en" sz="1700">
                <a:latin typeface="Calibri"/>
                <a:ea typeface="Calibri"/>
                <a:cs typeface="Calibri"/>
                <a:sym typeface="Calibri"/>
              </a:rPr>
              <a:t>Minimal language barrier </a:t>
            </a:r>
            <a:endParaRPr sz="1700">
              <a:latin typeface="Calibri"/>
              <a:ea typeface="Calibri"/>
              <a:cs typeface="Calibri"/>
              <a:sym typeface="Calibri"/>
            </a:endParaRPr>
          </a:p>
          <a:p>
            <a:pPr marL="457200" lvl="0" indent="-336550" algn="just" rtl="0">
              <a:lnSpc>
                <a:spcPct val="80000"/>
              </a:lnSpc>
              <a:spcBef>
                <a:spcPts val="0"/>
              </a:spcBef>
              <a:spcAft>
                <a:spcPts val="0"/>
              </a:spcAft>
              <a:buSzPts val="1700"/>
              <a:buFont typeface="Calibri"/>
              <a:buChar char="-"/>
            </a:pPr>
            <a:r>
              <a:rPr lang="en" sz="1700">
                <a:latin typeface="Calibri"/>
                <a:ea typeface="Calibri"/>
                <a:cs typeface="Calibri"/>
                <a:sym typeface="Calibri"/>
              </a:rPr>
              <a:t>Strong legal protections</a:t>
            </a:r>
            <a:endParaRPr sz="1700">
              <a:latin typeface="Calibri"/>
              <a:ea typeface="Calibri"/>
              <a:cs typeface="Calibri"/>
              <a:sym typeface="Calibri"/>
            </a:endParaRPr>
          </a:p>
          <a:p>
            <a:pPr marL="0" lvl="0" indent="0" algn="l" rtl="0">
              <a:lnSpc>
                <a:spcPct val="95000"/>
              </a:lnSpc>
              <a:spcBef>
                <a:spcPts val="0"/>
              </a:spcBef>
              <a:spcAft>
                <a:spcPts val="0"/>
              </a:spcAft>
              <a:buSzPts val="688"/>
              <a:buNone/>
            </a:pPr>
            <a:endParaRPr sz="1700" b="1">
              <a:latin typeface="Calibri"/>
              <a:ea typeface="Calibri"/>
              <a:cs typeface="Calibri"/>
              <a:sym typeface="Calibri"/>
            </a:endParaRPr>
          </a:p>
          <a:p>
            <a:pPr marL="0" lvl="0" indent="0" algn="l" rtl="0">
              <a:lnSpc>
                <a:spcPct val="95000"/>
              </a:lnSpc>
              <a:spcBef>
                <a:spcPts val="1200"/>
              </a:spcBef>
              <a:spcAft>
                <a:spcPts val="0"/>
              </a:spcAft>
              <a:buSzPts val="688"/>
              <a:buNone/>
            </a:pPr>
            <a:r>
              <a:rPr lang="en" sz="1700" b="1">
                <a:latin typeface="Calibri"/>
                <a:ea typeface="Calibri"/>
                <a:cs typeface="Calibri"/>
                <a:sym typeface="Calibri"/>
              </a:rPr>
              <a:t>Rationale: </a:t>
            </a:r>
            <a:r>
              <a:rPr lang="en" sz="1700">
                <a:latin typeface="Calibri"/>
                <a:ea typeface="Calibri"/>
                <a:cs typeface="Calibri"/>
                <a:sym typeface="Calibri"/>
              </a:rPr>
              <a:t>Canada offers low risk and a smooth transition for expanding internationally. The culture is similar and there is a very minimal language barrier, making business easy.</a:t>
            </a:r>
            <a:endParaRPr sz="1700" b="1">
              <a:latin typeface="Calibri"/>
              <a:ea typeface="Calibri"/>
              <a:cs typeface="Calibri"/>
              <a:sym typeface="Calibri"/>
            </a:endParaRPr>
          </a:p>
          <a:p>
            <a:pPr marL="0" lvl="0" indent="0" algn="l" rtl="0">
              <a:lnSpc>
                <a:spcPct val="95000"/>
              </a:lnSpc>
              <a:spcBef>
                <a:spcPts val="1200"/>
              </a:spcBef>
              <a:spcAft>
                <a:spcPts val="1200"/>
              </a:spcAft>
              <a:buSzPts val="688"/>
              <a:buNone/>
            </a:pPr>
            <a:endParaRPr sz="1325"/>
          </a:p>
        </p:txBody>
      </p:sp>
      <p:sp>
        <p:nvSpPr>
          <p:cNvPr id="118" name="Google Shape;118;p21"/>
          <p:cNvSpPr txBox="1"/>
          <p:nvPr/>
        </p:nvSpPr>
        <p:spPr>
          <a:xfrm>
            <a:off x="4684900" y="1704900"/>
            <a:ext cx="4406700" cy="16596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1700" b="1">
                <a:latin typeface="Calibri"/>
                <a:ea typeface="Calibri"/>
                <a:cs typeface="Calibri"/>
                <a:sym typeface="Calibri"/>
              </a:rPr>
              <a:t>Challenges: </a:t>
            </a:r>
            <a:endParaRPr sz="1700">
              <a:latin typeface="Calibri"/>
              <a:ea typeface="Calibri"/>
              <a:cs typeface="Calibri"/>
              <a:sym typeface="Calibri"/>
            </a:endParaRPr>
          </a:p>
          <a:p>
            <a:pPr marL="457200" lvl="0" indent="-336550" algn="l" rtl="0">
              <a:spcBef>
                <a:spcPts val="1200"/>
              </a:spcBef>
              <a:spcAft>
                <a:spcPts val="0"/>
              </a:spcAft>
              <a:buSzPts val="1700"/>
              <a:buFont typeface="Calibri"/>
              <a:buChar char="-"/>
            </a:pPr>
            <a:r>
              <a:rPr lang="en" sz="1700">
                <a:latin typeface="Calibri"/>
                <a:ea typeface="Calibri"/>
                <a:cs typeface="Calibri"/>
                <a:sym typeface="Calibri"/>
              </a:rPr>
              <a:t>Smaller population than some larger countries</a:t>
            </a:r>
            <a:endParaRPr sz="1700">
              <a:latin typeface="Calibri"/>
              <a:ea typeface="Calibri"/>
              <a:cs typeface="Calibri"/>
              <a:sym typeface="Calibri"/>
            </a:endParaRPr>
          </a:p>
          <a:p>
            <a:pPr marL="457200" lvl="0" indent="-336550" algn="l" rtl="0">
              <a:spcBef>
                <a:spcPts val="0"/>
              </a:spcBef>
              <a:spcAft>
                <a:spcPts val="0"/>
              </a:spcAft>
              <a:buSzPts val="1700"/>
              <a:buFont typeface="Calibri"/>
              <a:buChar char="-"/>
            </a:pPr>
            <a:r>
              <a:rPr lang="en" sz="1700">
                <a:latin typeface="Calibri"/>
                <a:ea typeface="Calibri"/>
                <a:cs typeface="Calibri"/>
                <a:sym typeface="Calibri"/>
              </a:rPr>
              <a:t>More competitive market</a:t>
            </a:r>
            <a:endParaRPr sz="1700">
              <a:latin typeface="Calibri"/>
              <a:ea typeface="Calibri"/>
              <a:cs typeface="Calibri"/>
              <a:sym typeface="Calibri"/>
            </a:endParaRPr>
          </a:p>
          <a:p>
            <a:pPr marL="457200" lvl="0" indent="-336550" algn="l" rtl="0">
              <a:spcBef>
                <a:spcPts val="0"/>
              </a:spcBef>
              <a:spcAft>
                <a:spcPts val="0"/>
              </a:spcAft>
              <a:buSzPts val="1700"/>
              <a:buFont typeface="Calibri"/>
              <a:buChar char="-"/>
            </a:pPr>
            <a:r>
              <a:rPr lang="en" sz="1700">
                <a:latin typeface="Calibri"/>
                <a:ea typeface="Calibri"/>
                <a:cs typeface="Calibri"/>
                <a:sym typeface="Calibri"/>
              </a:rPr>
              <a:t>Higher taxes in some provinces</a:t>
            </a:r>
            <a:endParaRPr sz="17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Expansion and Entry Strategy </a:t>
            </a:r>
            <a:endParaRPr/>
          </a:p>
        </p:txBody>
      </p:sp>
      <p:sp>
        <p:nvSpPr>
          <p:cNvPr id="124" name="Google Shape;124;p22"/>
          <p:cNvSpPr txBox="1">
            <a:spLocks noGrp="1"/>
          </p:cNvSpPr>
          <p:nvPr>
            <p:ph type="body" idx="1"/>
          </p:nvPr>
        </p:nvSpPr>
        <p:spPr>
          <a:xfrm>
            <a:off x="311700" y="1152425"/>
            <a:ext cx="8520600" cy="3724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100" b="1">
                <a:latin typeface="Calibri"/>
                <a:ea typeface="Calibri"/>
                <a:cs typeface="Calibri"/>
                <a:sym typeface="Calibri"/>
              </a:rPr>
              <a:t>Expansion strategy (global, local, combo): </a:t>
            </a:r>
            <a:r>
              <a:rPr lang="en" sz="2100">
                <a:latin typeface="Calibri"/>
                <a:ea typeface="Calibri"/>
                <a:cs typeface="Calibri"/>
                <a:sym typeface="Calibri"/>
              </a:rPr>
              <a:t>Global standardization expansion</a:t>
            </a:r>
            <a:endParaRPr sz="2100">
              <a:latin typeface="Calibri"/>
              <a:ea typeface="Calibri"/>
              <a:cs typeface="Calibri"/>
              <a:sym typeface="Calibri"/>
            </a:endParaRPr>
          </a:p>
          <a:p>
            <a:pPr marL="0" lvl="0" indent="0" algn="l" rtl="0">
              <a:lnSpc>
                <a:spcPct val="95000"/>
              </a:lnSpc>
              <a:spcBef>
                <a:spcPts val="1200"/>
              </a:spcBef>
              <a:spcAft>
                <a:spcPts val="0"/>
              </a:spcAft>
              <a:buNone/>
            </a:pPr>
            <a:r>
              <a:rPr lang="en" sz="2100" b="1">
                <a:latin typeface="Calibri"/>
                <a:ea typeface="Calibri"/>
                <a:cs typeface="Calibri"/>
                <a:sym typeface="Calibri"/>
              </a:rPr>
              <a:t>Entry strategy (Franchise, etc.): </a:t>
            </a:r>
            <a:r>
              <a:rPr lang="en" sz="2100">
                <a:latin typeface="Calibri"/>
                <a:ea typeface="Calibri"/>
                <a:cs typeface="Calibri"/>
                <a:sym typeface="Calibri"/>
              </a:rPr>
              <a:t>Franchise</a:t>
            </a:r>
            <a:endParaRPr sz="2100">
              <a:latin typeface="Calibri"/>
              <a:ea typeface="Calibri"/>
              <a:cs typeface="Calibri"/>
              <a:sym typeface="Calibri"/>
            </a:endParaRPr>
          </a:p>
          <a:p>
            <a:pPr marL="0" lvl="0" indent="0" algn="l" rtl="0">
              <a:lnSpc>
                <a:spcPct val="95000"/>
              </a:lnSpc>
              <a:spcBef>
                <a:spcPts val="1200"/>
              </a:spcBef>
              <a:spcAft>
                <a:spcPts val="0"/>
              </a:spcAft>
              <a:buNone/>
            </a:pPr>
            <a:r>
              <a:rPr lang="en" sz="2100" b="1">
                <a:latin typeface="Calibri"/>
                <a:ea typeface="Calibri"/>
                <a:cs typeface="Calibri"/>
                <a:sym typeface="Calibri"/>
              </a:rPr>
              <a:t>Rationale: </a:t>
            </a:r>
            <a:r>
              <a:rPr lang="en" sz="2100">
                <a:latin typeface="Calibri"/>
                <a:ea typeface="Calibri"/>
                <a:cs typeface="Calibri"/>
                <a:sym typeface="Calibri"/>
              </a:rPr>
              <a:t>Franchising is the best entry strategy for Canada because universities there have similar student needs, such as affordable clothing, textbooks, and dorm essentials. Using franchise partners in Canadian college cities would reduce startup costs, lower operational risk, and allow local operators to source inventory and understand campus trends better. This makes expansion faster, more scalable, and easier to adapt to different university markets while keeping the core thrift store concept consistent.</a:t>
            </a:r>
            <a:endParaRPr sz="2100" b="1">
              <a:latin typeface="Calibri"/>
              <a:ea typeface="Calibri"/>
              <a:cs typeface="Calibri"/>
              <a:sym typeface="Calibri"/>
            </a:endParaRPr>
          </a:p>
          <a:p>
            <a:pPr marL="0" lvl="0" indent="0" algn="l" rtl="0">
              <a:lnSpc>
                <a:spcPct val="95000"/>
              </a:lnSpc>
              <a:spcBef>
                <a:spcPts val="1200"/>
              </a:spcBef>
              <a:spcAft>
                <a:spcPts val="1200"/>
              </a:spcAft>
              <a:buNone/>
            </a:pP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Key Job</a:t>
            </a:r>
            <a:endParaRPr/>
          </a:p>
        </p:txBody>
      </p:sp>
      <p:sp>
        <p:nvSpPr>
          <p:cNvPr id="130" name="Google Shape;130;p23"/>
          <p:cNvSpPr txBox="1">
            <a:spLocks noGrp="1"/>
          </p:cNvSpPr>
          <p:nvPr>
            <p:ph type="body" idx="1"/>
          </p:nvPr>
        </p:nvSpPr>
        <p:spPr>
          <a:xfrm>
            <a:off x="311700" y="1152425"/>
            <a:ext cx="8520600" cy="34167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1018"/>
              <a:buNone/>
            </a:pPr>
            <a:r>
              <a:rPr lang="en" sz="1495" b="1">
                <a:latin typeface="Calibri"/>
                <a:ea typeface="Calibri"/>
                <a:cs typeface="Calibri"/>
                <a:sym typeface="Calibri"/>
              </a:rPr>
              <a:t>Key job selected: </a:t>
            </a:r>
            <a:r>
              <a:rPr lang="en" sz="1495">
                <a:latin typeface="Calibri"/>
                <a:ea typeface="Calibri"/>
                <a:cs typeface="Calibri"/>
                <a:sym typeface="Calibri"/>
              </a:rPr>
              <a:t>Cashier</a:t>
            </a:r>
            <a:endParaRPr sz="1495">
              <a:latin typeface="Calibri"/>
              <a:ea typeface="Calibri"/>
              <a:cs typeface="Calibri"/>
              <a:sym typeface="Calibri"/>
            </a:endParaRPr>
          </a:p>
          <a:p>
            <a:pPr marL="0" lvl="0" indent="0" algn="l" rtl="0">
              <a:lnSpc>
                <a:spcPct val="95000"/>
              </a:lnSpc>
              <a:spcBef>
                <a:spcPts val="1200"/>
              </a:spcBef>
              <a:spcAft>
                <a:spcPts val="0"/>
              </a:spcAft>
              <a:buSzPts val="1018"/>
              <a:buNone/>
            </a:pPr>
            <a:r>
              <a:rPr lang="en" sz="1495" b="1">
                <a:latin typeface="Calibri"/>
                <a:ea typeface="Calibri"/>
                <a:cs typeface="Calibri"/>
                <a:sym typeface="Calibri"/>
              </a:rPr>
              <a:t>Summary of responsibilities: </a:t>
            </a:r>
            <a:r>
              <a:rPr lang="en" sz="1495">
                <a:latin typeface="Calibri"/>
                <a:ea typeface="Calibri"/>
                <a:cs typeface="Calibri"/>
                <a:sym typeface="Calibri"/>
              </a:rPr>
              <a:t>Help customers locate merchandise, use the cash register to check customers out, keep the store neat and organized, maintain a professional and welcoming environment</a:t>
            </a:r>
            <a:endParaRPr sz="1495">
              <a:latin typeface="Calibri"/>
              <a:ea typeface="Calibri"/>
              <a:cs typeface="Calibri"/>
              <a:sym typeface="Calibri"/>
            </a:endParaRPr>
          </a:p>
          <a:p>
            <a:pPr marL="0" lvl="0" indent="0" algn="l" rtl="0">
              <a:lnSpc>
                <a:spcPct val="95000"/>
              </a:lnSpc>
              <a:spcBef>
                <a:spcPts val="1200"/>
              </a:spcBef>
              <a:spcAft>
                <a:spcPts val="0"/>
              </a:spcAft>
              <a:buSzPts val="1018"/>
              <a:buNone/>
            </a:pPr>
            <a:r>
              <a:rPr lang="en" sz="1495" b="1">
                <a:latin typeface="Calibri"/>
                <a:ea typeface="Calibri"/>
                <a:cs typeface="Calibri"/>
                <a:sym typeface="Calibri"/>
              </a:rPr>
              <a:t>Qualifications required: </a:t>
            </a:r>
            <a:r>
              <a:rPr lang="en" sz="1495">
                <a:latin typeface="Calibri"/>
                <a:ea typeface="Calibri"/>
                <a:cs typeface="Calibri"/>
                <a:sym typeface="Calibri"/>
              </a:rPr>
              <a:t>Customer service, strong social skills, money handling, ability to work in stressful environments, flexibility for working hours (weekends and weekdays)</a:t>
            </a:r>
            <a:endParaRPr sz="1495">
              <a:latin typeface="Calibri"/>
              <a:ea typeface="Calibri"/>
              <a:cs typeface="Calibri"/>
              <a:sym typeface="Calibri"/>
            </a:endParaRPr>
          </a:p>
          <a:p>
            <a:pPr marL="0" lvl="0" indent="0" algn="l" rtl="0">
              <a:lnSpc>
                <a:spcPct val="95000"/>
              </a:lnSpc>
              <a:spcBef>
                <a:spcPts val="1200"/>
              </a:spcBef>
              <a:spcAft>
                <a:spcPts val="0"/>
              </a:spcAft>
              <a:buSzPts val="1018"/>
              <a:buNone/>
            </a:pPr>
            <a:r>
              <a:rPr lang="en" sz="1495" b="1">
                <a:latin typeface="Calibri"/>
                <a:ea typeface="Calibri"/>
                <a:cs typeface="Calibri"/>
                <a:sym typeface="Calibri"/>
              </a:rPr>
              <a:t>Compensation plan: </a:t>
            </a:r>
            <a:r>
              <a:rPr lang="en" sz="1495">
                <a:latin typeface="Calibri"/>
                <a:ea typeface="Calibri"/>
                <a:cs typeface="Calibri"/>
                <a:sym typeface="Calibri"/>
              </a:rPr>
              <a:t>Begin with minimum wage, yearly raises based on performance, PTO, student worker benefits, employee discount on merchandise</a:t>
            </a:r>
            <a:endParaRPr sz="1495">
              <a:latin typeface="Calibri"/>
              <a:ea typeface="Calibri"/>
              <a:cs typeface="Calibri"/>
              <a:sym typeface="Calibri"/>
            </a:endParaRPr>
          </a:p>
          <a:p>
            <a:pPr marL="0" lvl="0" indent="0" algn="l" rtl="0">
              <a:lnSpc>
                <a:spcPct val="95000"/>
              </a:lnSpc>
              <a:spcBef>
                <a:spcPts val="1200"/>
              </a:spcBef>
              <a:spcAft>
                <a:spcPts val="0"/>
              </a:spcAft>
              <a:buSzPts val="1018"/>
              <a:buNone/>
            </a:pPr>
            <a:r>
              <a:rPr lang="en" sz="1495" b="1">
                <a:latin typeface="Calibri"/>
                <a:ea typeface="Calibri"/>
                <a:cs typeface="Calibri"/>
                <a:sym typeface="Calibri"/>
              </a:rPr>
              <a:t>Advertising plan: </a:t>
            </a:r>
            <a:r>
              <a:rPr lang="en" sz="1495">
                <a:latin typeface="Calibri"/>
                <a:ea typeface="Calibri"/>
                <a:cs typeface="Calibri"/>
                <a:sym typeface="Calibri"/>
              </a:rPr>
              <a:t>Advertise online to students and local areas, use Indeed or other online platforms, advertise on campus by putting up flyers</a:t>
            </a:r>
            <a:endParaRPr sz="1495">
              <a:latin typeface="Calibri"/>
              <a:ea typeface="Calibri"/>
              <a:cs typeface="Calibri"/>
              <a:sym typeface="Calibri"/>
            </a:endParaRPr>
          </a:p>
          <a:p>
            <a:pPr marL="0" lvl="0" indent="0" algn="l" rtl="0">
              <a:lnSpc>
                <a:spcPct val="95000"/>
              </a:lnSpc>
              <a:spcBef>
                <a:spcPts val="1200"/>
              </a:spcBef>
              <a:spcAft>
                <a:spcPts val="1200"/>
              </a:spcAft>
              <a:buSzPts val="1018"/>
              <a:buNone/>
            </a:pPr>
            <a:r>
              <a:rPr lang="en" sz="1495" b="1">
                <a:latin typeface="Calibri"/>
                <a:ea typeface="Calibri"/>
                <a:cs typeface="Calibri"/>
                <a:sym typeface="Calibri"/>
              </a:rPr>
              <a:t>Criteria for selection: </a:t>
            </a:r>
            <a:r>
              <a:rPr lang="en" sz="1495">
                <a:latin typeface="Calibri"/>
                <a:ea typeface="Calibri"/>
                <a:cs typeface="Calibri"/>
                <a:sym typeface="Calibri"/>
              </a:rPr>
              <a:t>Previous customer service or retail experience (preferred but not required), strong communication skills, positive attitude and professional appearance, reliable work history and punctuality, interest in sustainability, affordability, and supporting fellow students, availability during peak store hours</a:t>
            </a:r>
            <a:endParaRPr sz="1495">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Employee Motivation Initiatives</a:t>
            </a:r>
            <a:endParaRPr/>
          </a:p>
        </p:txBody>
      </p:sp>
      <p:sp>
        <p:nvSpPr>
          <p:cNvPr id="136" name="Google Shape;136;p24"/>
          <p:cNvSpPr txBox="1">
            <a:spLocks noGrp="1"/>
          </p:cNvSpPr>
          <p:nvPr>
            <p:ph type="body" idx="1"/>
          </p:nvPr>
        </p:nvSpPr>
        <p:spPr>
          <a:xfrm>
            <a:off x="311700" y="1288550"/>
            <a:ext cx="8520600" cy="3528900"/>
          </a:xfrm>
          <a:prstGeom prst="rect">
            <a:avLst/>
          </a:prstGeom>
        </p:spPr>
        <p:txBody>
          <a:bodyPr spcFirstLastPara="1" wrap="square" lIns="91425" tIns="91425" rIns="91425" bIns="91425" anchor="t" anchorCtr="0">
            <a:normAutofit fontScale="70000"/>
          </a:bodyPr>
          <a:lstStyle/>
          <a:p>
            <a:pPr marL="215900" lvl="0" indent="-260141" algn="l" rtl="0">
              <a:lnSpc>
                <a:spcPct val="100000"/>
              </a:lnSpc>
              <a:spcBef>
                <a:spcPts val="0"/>
              </a:spcBef>
              <a:spcAft>
                <a:spcPts val="0"/>
              </a:spcAft>
              <a:buSzPct val="100000"/>
              <a:buFont typeface="Calibri"/>
              <a:buChar char="❖"/>
            </a:pPr>
            <a:r>
              <a:rPr lang="en" sz="2995">
                <a:latin typeface="Calibri"/>
                <a:ea typeface="Calibri"/>
                <a:cs typeface="Calibri"/>
                <a:sym typeface="Calibri"/>
              </a:rPr>
              <a:t>Breaks will be on business time, so the employees are paid for the breaks</a:t>
            </a:r>
            <a:endParaRPr sz="2995">
              <a:solidFill>
                <a:srgbClr val="595959"/>
              </a:solidFill>
              <a:latin typeface="Calibri"/>
              <a:ea typeface="Calibri"/>
              <a:cs typeface="Calibri"/>
              <a:sym typeface="Calibri"/>
            </a:endParaRPr>
          </a:p>
          <a:p>
            <a:pPr marL="215900" lvl="0" indent="-260141" algn="l" rtl="0">
              <a:lnSpc>
                <a:spcPct val="100000"/>
              </a:lnSpc>
              <a:spcBef>
                <a:spcPts val="600"/>
              </a:spcBef>
              <a:spcAft>
                <a:spcPts val="0"/>
              </a:spcAft>
              <a:buSzPct val="100000"/>
              <a:buFont typeface="Calibri"/>
              <a:buChar char="❖"/>
            </a:pPr>
            <a:r>
              <a:rPr lang="en" sz="2995">
                <a:latin typeface="Calibri"/>
                <a:ea typeface="Calibri"/>
                <a:cs typeface="Calibri"/>
                <a:sym typeface="Calibri"/>
              </a:rPr>
              <a:t>Offer constructive feedback on employee’s work.</a:t>
            </a:r>
            <a:endParaRPr sz="2695">
              <a:latin typeface="Calibri"/>
              <a:ea typeface="Calibri"/>
              <a:cs typeface="Calibri"/>
              <a:sym typeface="Calibri"/>
            </a:endParaRPr>
          </a:p>
          <a:p>
            <a:pPr marL="215900" lvl="0" indent="-260141" algn="l" rtl="0">
              <a:lnSpc>
                <a:spcPct val="100000"/>
              </a:lnSpc>
              <a:spcBef>
                <a:spcPts val="600"/>
              </a:spcBef>
              <a:spcAft>
                <a:spcPts val="0"/>
              </a:spcAft>
              <a:buSzPct val="100000"/>
              <a:buFont typeface="Calibri"/>
              <a:buChar char="❖"/>
            </a:pPr>
            <a:r>
              <a:rPr lang="en" sz="2995">
                <a:latin typeface="Calibri"/>
                <a:ea typeface="Calibri"/>
                <a:cs typeface="Calibri"/>
                <a:sym typeface="Calibri"/>
              </a:rPr>
              <a:t>Incentive Programs: Implementing performance-based incentives, such as bonuses for exceptional customer service or achieving sales targets, can encourage employees to go above and beyond in their roles.</a:t>
            </a:r>
            <a:endParaRPr sz="2695">
              <a:latin typeface="Calibri"/>
              <a:ea typeface="Calibri"/>
              <a:cs typeface="Calibri"/>
              <a:sym typeface="Calibri"/>
            </a:endParaRPr>
          </a:p>
          <a:p>
            <a:pPr marL="215900" lvl="0" indent="-260141" algn="l" rtl="0">
              <a:lnSpc>
                <a:spcPct val="100000"/>
              </a:lnSpc>
              <a:spcBef>
                <a:spcPts val="600"/>
              </a:spcBef>
              <a:spcAft>
                <a:spcPts val="0"/>
              </a:spcAft>
              <a:buSzPct val="100000"/>
              <a:buFont typeface="Calibri"/>
              <a:buChar char="❖"/>
            </a:pPr>
            <a:r>
              <a:rPr lang="en" sz="2995">
                <a:latin typeface="Calibri"/>
                <a:ea typeface="Calibri"/>
                <a:cs typeface="Calibri"/>
                <a:sym typeface="Calibri"/>
              </a:rPr>
              <a:t>Team Building Activities: Organizing regular team-building events and social gatherings fosters camaraderie among staff, enhancing teamwork and creating a positive work environment.</a:t>
            </a:r>
            <a:endParaRPr sz="2695">
              <a:latin typeface="Calibri"/>
              <a:ea typeface="Calibri"/>
              <a:cs typeface="Calibri"/>
              <a:sym typeface="Calibri"/>
            </a:endParaRPr>
          </a:p>
          <a:p>
            <a:pPr marL="215900" lvl="0" indent="-260141" algn="l" rtl="0">
              <a:lnSpc>
                <a:spcPct val="100000"/>
              </a:lnSpc>
              <a:spcBef>
                <a:spcPts val="600"/>
              </a:spcBef>
              <a:spcAft>
                <a:spcPts val="0"/>
              </a:spcAft>
              <a:buSzPct val="100000"/>
              <a:buFont typeface="Calibri"/>
              <a:buChar char="❖"/>
            </a:pPr>
            <a:r>
              <a:rPr lang="en" sz="2995">
                <a:latin typeface="Calibri"/>
                <a:ea typeface="Calibri"/>
                <a:cs typeface="Calibri"/>
                <a:sym typeface="Calibri"/>
              </a:rPr>
              <a:t>Create a suggestion box</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Departure Announcement</a:t>
            </a:r>
            <a:endParaRPr/>
          </a:p>
        </p:txBody>
      </p:sp>
      <p:sp>
        <p:nvSpPr>
          <p:cNvPr id="142" name="Google Shape;142;p25"/>
          <p:cNvSpPr txBox="1">
            <a:spLocks noGrp="1"/>
          </p:cNvSpPr>
          <p:nvPr>
            <p:ph type="body" idx="1"/>
          </p:nvPr>
        </p:nvSpPr>
        <p:spPr>
          <a:xfrm>
            <a:off x="311700" y="1266325"/>
            <a:ext cx="8520600" cy="3558600"/>
          </a:xfrm>
          <a:prstGeom prst="rect">
            <a:avLst/>
          </a:prstGeom>
        </p:spPr>
        <p:txBody>
          <a:bodyPr spcFirstLastPara="1" wrap="square" lIns="91425" tIns="91425" rIns="91425" bIns="91425" anchor="t" anchorCtr="0">
            <a:normAutofit fontScale="85000" lnSpcReduction="20000"/>
          </a:bodyPr>
          <a:lstStyle/>
          <a:p>
            <a:pPr marL="0" lvl="0" indent="0" algn="l" rtl="0">
              <a:lnSpc>
                <a:spcPct val="100000"/>
              </a:lnSpc>
              <a:spcBef>
                <a:spcPts val="0"/>
              </a:spcBef>
              <a:spcAft>
                <a:spcPts val="0"/>
              </a:spcAft>
              <a:buNone/>
            </a:pPr>
            <a:r>
              <a:rPr lang="en" sz="1400">
                <a:latin typeface="Calibri"/>
                <a:ea typeface="Calibri"/>
                <a:cs typeface="Calibri"/>
                <a:sym typeface="Calibri"/>
              </a:rPr>
              <a:t>Dear Team, </a:t>
            </a:r>
            <a:endParaRPr sz="1400">
              <a:latin typeface="Calibri"/>
              <a:ea typeface="Calibri"/>
              <a:cs typeface="Calibri"/>
              <a:sym typeface="Calibri"/>
            </a:endParaRPr>
          </a:p>
          <a:p>
            <a:pPr marL="0" lvl="0" indent="0" algn="l" rtl="0">
              <a:lnSpc>
                <a:spcPct val="100000"/>
              </a:lnSpc>
              <a:spcBef>
                <a:spcPts val="0"/>
              </a:spcBef>
              <a:spcAft>
                <a:spcPts val="0"/>
              </a:spcAft>
              <a:buNone/>
            </a:pPr>
            <a:endParaRPr sz="1400">
              <a:latin typeface="Calibri"/>
              <a:ea typeface="Calibri"/>
              <a:cs typeface="Calibri"/>
              <a:sym typeface="Calibri"/>
            </a:endParaRPr>
          </a:p>
          <a:p>
            <a:pPr marL="0" lvl="0" indent="0" algn="l" rtl="0">
              <a:lnSpc>
                <a:spcPct val="100000"/>
              </a:lnSpc>
              <a:spcBef>
                <a:spcPts val="0"/>
              </a:spcBef>
              <a:spcAft>
                <a:spcPts val="0"/>
              </a:spcAft>
              <a:buNone/>
            </a:pPr>
            <a:r>
              <a:rPr lang="en" sz="1400">
                <a:latin typeface="Calibri"/>
                <a:ea typeface="Calibri"/>
                <a:cs typeface="Calibri"/>
                <a:sym typeface="Calibri"/>
              </a:rPr>
              <a:t>We want to address the recent departure of two valued members of our organization. Their departure has prompted us to </a:t>
            </a:r>
            <a:r>
              <a:rPr lang="en" sz="1400" b="1">
                <a:latin typeface="Calibri"/>
                <a:ea typeface="Calibri"/>
                <a:cs typeface="Calibri"/>
                <a:sym typeface="Calibri"/>
              </a:rPr>
              <a:t>reflect on our management practices and workplace environment.</a:t>
            </a:r>
            <a:r>
              <a:rPr lang="en" sz="1400">
                <a:latin typeface="Calibri"/>
                <a:ea typeface="Calibri"/>
                <a:cs typeface="Calibri"/>
                <a:sym typeface="Calibri"/>
              </a:rPr>
              <a:t> It has become clear that a greater focus is needed on employee motivation, engagement, and professional growth. Moving forward, </a:t>
            </a:r>
            <a:r>
              <a:rPr lang="en" sz="1400" b="1">
                <a:latin typeface="Calibri"/>
                <a:ea typeface="Calibri"/>
                <a:cs typeface="Calibri"/>
                <a:sym typeface="Calibri"/>
              </a:rPr>
              <a:t>we will implement several new initiatives </a:t>
            </a:r>
            <a:r>
              <a:rPr lang="en" sz="1400">
                <a:latin typeface="Calibri"/>
                <a:ea typeface="Calibri"/>
                <a:cs typeface="Calibri"/>
                <a:sym typeface="Calibri"/>
              </a:rPr>
              <a:t>to ensure better support and more motivation for employees. </a:t>
            </a:r>
            <a:endParaRPr sz="1400">
              <a:latin typeface="Calibri"/>
              <a:ea typeface="Calibri"/>
              <a:cs typeface="Calibri"/>
              <a:sym typeface="Calibri"/>
            </a:endParaRPr>
          </a:p>
          <a:p>
            <a:pPr marL="0" lvl="0" indent="0" algn="l" rtl="0">
              <a:lnSpc>
                <a:spcPct val="100000"/>
              </a:lnSpc>
              <a:spcBef>
                <a:spcPts val="0"/>
              </a:spcBef>
              <a:spcAft>
                <a:spcPts val="0"/>
              </a:spcAft>
              <a:buNone/>
            </a:pPr>
            <a:endParaRPr sz="1400">
              <a:latin typeface="Calibri"/>
              <a:ea typeface="Calibri"/>
              <a:cs typeface="Calibri"/>
              <a:sym typeface="Calibri"/>
            </a:endParaRPr>
          </a:p>
          <a:p>
            <a:pPr marL="457200" lvl="0" indent="-304165" algn="l" rtl="0">
              <a:lnSpc>
                <a:spcPct val="100000"/>
              </a:lnSpc>
              <a:spcBef>
                <a:spcPts val="0"/>
              </a:spcBef>
              <a:spcAft>
                <a:spcPts val="0"/>
              </a:spcAft>
              <a:buSzPct val="100000"/>
              <a:buFont typeface="Calibri"/>
              <a:buChar char="-"/>
            </a:pPr>
            <a:r>
              <a:rPr lang="en" sz="1400">
                <a:latin typeface="Calibri"/>
                <a:ea typeface="Calibri"/>
                <a:cs typeface="Calibri"/>
                <a:sym typeface="Calibri"/>
              </a:rPr>
              <a:t>Performance Recognition Program </a:t>
            </a:r>
            <a:endParaRPr sz="1400">
              <a:latin typeface="Calibri"/>
              <a:ea typeface="Calibri"/>
              <a:cs typeface="Calibri"/>
              <a:sym typeface="Calibri"/>
            </a:endParaRPr>
          </a:p>
          <a:p>
            <a:pPr marL="457200" lvl="0" indent="-304165" algn="l" rtl="0">
              <a:lnSpc>
                <a:spcPct val="100000"/>
              </a:lnSpc>
              <a:spcBef>
                <a:spcPts val="0"/>
              </a:spcBef>
              <a:spcAft>
                <a:spcPts val="0"/>
              </a:spcAft>
              <a:buSzPct val="100000"/>
              <a:buFont typeface="Calibri"/>
              <a:buChar char="-"/>
            </a:pPr>
            <a:r>
              <a:rPr lang="en" sz="1400">
                <a:latin typeface="Calibri"/>
                <a:ea typeface="Calibri"/>
                <a:cs typeface="Calibri"/>
                <a:sym typeface="Calibri"/>
              </a:rPr>
              <a:t>Flexibility in Scheduling </a:t>
            </a:r>
            <a:endParaRPr sz="1400">
              <a:latin typeface="Calibri"/>
              <a:ea typeface="Calibri"/>
              <a:cs typeface="Calibri"/>
              <a:sym typeface="Calibri"/>
            </a:endParaRPr>
          </a:p>
          <a:p>
            <a:pPr marL="457200" lvl="0" indent="-304165" algn="l" rtl="0">
              <a:lnSpc>
                <a:spcPct val="100000"/>
              </a:lnSpc>
              <a:spcBef>
                <a:spcPts val="0"/>
              </a:spcBef>
              <a:spcAft>
                <a:spcPts val="0"/>
              </a:spcAft>
              <a:buSzPct val="100000"/>
              <a:buFont typeface="Calibri"/>
              <a:buChar char="-"/>
            </a:pPr>
            <a:r>
              <a:rPr lang="en" sz="1400">
                <a:latin typeface="Calibri"/>
                <a:ea typeface="Calibri"/>
                <a:cs typeface="Calibri"/>
                <a:sym typeface="Calibri"/>
              </a:rPr>
              <a:t>Career Development/Training Opportunities </a:t>
            </a:r>
            <a:endParaRPr sz="1400">
              <a:latin typeface="Calibri"/>
              <a:ea typeface="Calibri"/>
              <a:cs typeface="Calibri"/>
              <a:sym typeface="Calibri"/>
            </a:endParaRPr>
          </a:p>
          <a:p>
            <a:pPr marL="457200" lvl="0" indent="-304165" algn="l" rtl="0">
              <a:lnSpc>
                <a:spcPct val="100000"/>
              </a:lnSpc>
              <a:spcBef>
                <a:spcPts val="0"/>
              </a:spcBef>
              <a:spcAft>
                <a:spcPts val="0"/>
              </a:spcAft>
              <a:buSzPct val="100000"/>
              <a:buFont typeface="Calibri"/>
              <a:buChar char="-"/>
            </a:pPr>
            <a:r>
              <a:rPr lang="en" sz="1400">
                <a:latin typeface="Calibri"/>
                <a:ea typeface="Calibri"/>
                <a:cs typeface="Calibri"/>
                <a:sym typeface="Calibri"/>
              </a:rPr>
              <a:t>Monthly feedback meetings</a:t>
            </a:r>
            <a:endParaRPr sz="1400">
              <a:latin typeface="Calibri"/>
              <a:ea typeface="Calibri"/>
              <a:cs typeface="Calibri"/>
              <a:sym typeface="Calibri"/>
            </a:endParaRPr>
          </a:p>
          <a:p>
            <a:pPr marL="457200" lvl="0" indent="-304165" algn="l" rtl="0">
              <a:lnSpc>
                <a:spcPct val="100000"/>
              </a:lnSpc>
              <a:spcBef>
                <a:spcPts val="0"/>
              </a:spcBef>
              <a:spcAft>
                <a:spcPts val="0"/>
              </a:spcAft>
              <a:buSzPct val="100000"/>
              <a:buFont typeface="Calibri"/>
              <a:buChar char="-"/>
            </a:pPr>
            <a:r>
              <a:rPr lang="en" sz="1400">
                <a:latin typeface="Calibri"/>
                <a:ea typeface="Calibri"/>
                <a:cs typeface="Calibri"/>
                <a:sym typeface="Calibri"/>
              </a:rPr>
              <a:t>In-Store Employee Discounts </a:t>
            </a:r>
            <a:endParaRPr sz="1400">
              <a:latin typeface="Calibri"/>
              <a:ea typeface="Calibri"/>
              <a:cs typeface="Calibri"/>
              <a:sym typeface="Calibri"/>
            </a:endParaRPr>
          </a:p>
          <a:p>
            <a:pPr marL="0" lvl="0" indent="0" algn="l" rtl="0">
              <a:lnSpc>
                <a:spcPct val="100000"/>
              </a:lnSpc>
              <a:spcBef>
                <a:spcPts val="1200"/>
              </a:spcBef>
              <a:spcAft>
                <a:spcPts val="0"/>
              </a:spcAft>
              <a:buNone/>
            </a:pPr>
            <a:r>
              <a:rPr lang="en" sz="1400">
                <a:latin typeface="Calibri"/>
                <a:ea typeface="Calibri"/>
                <a:cs typeface="Calibri"/>
                <a:sym typeface="Calibri"/>
              </a:rPr>
              <a:t>We truly appreciate the hard work each of you contributes to making Scarlet ReThreads successful. Your effort directly impacts students across campus who rely on affordable clothing, dorm essentials, and textbooks.</a:t>
            </a:r>
            <a:endParaRPr sz="1400">
              <a:latin typeface="Calibri"/>
              <a:ea typeface="Calibri"/>
              <a:cs typeface="Calibri"/>
              <a:sym typeface="Calibri"/>
            </a:endParaRPr>
          </a:p>
          <a:p>
            <a:pPr marL="0" lvl="0" indent="0" algn="l" rtl="0">
              <a:lnSpc>
                <a:spcPct val="100000"/>
              </a:lnSpc>
              <a:spcBef>
                <a:spcPts val="1200"/>
              </a:spcBef>
              <a:spcAft>
                <a:spcPts val="0"/>
              </a:spcAft>
              <a:buNone/>
            </a:pPr>
            <a:r>
              <a:rPr lang="en" sz="1400">
                <a:latin typeface="Calibri"/>
                <a:ea typeface="Calibri"/>
                <a:cs typeface="Calibri"/>
                <a:sym typeface="Calibri"/>
              </a:rPr>
              <a:t>If you have any concerns or ideas, our door is always open. We are committed to building a stronger team together.</a:t>
            </a:r>
            <a:endParaRPr sz="1400">
              <a:latin typeface="Calibri"/>
              <a:ea typeface="Calibri"/>
              <a:cs typeface="Calibri"/>
              <a:sym typeface="Calibri"/>
            </a:endParaRPr>
          </a:p>
          <a:p>
            <a:pPr marL="0" lvl="0" indent="0" algn="l" rtl="0">
              <a:lnSpc>
                <a:spcPct val="100000"/>
              </a:lnSpc>
              <a:spcBef>
                <a:spcPts val="1200"/>
              </a:spcBef>
              <a:spcAft>
                <a:spcPts val="0"/>
              </a:spcAft>
              <a:buNone/>
            </a:pPr>
            <a:r>
              <a:rPr lang="en" sz="1400">
                <a:latin typeface="Calibri"/>
                <a:ea typeface="Calibri"/>
                <a:cs typeface="Calibri"/>
                <a:sym typeface="Calibri"/>
              </a:rPr>
              <a:t>Thank you for your dedication and continued support.</a:t>
            </a:r>
            <a:endParaRPr sz="1400">
              <a:latin typeface="Calibri"/>
              <a:ea typeface="Calibri"/>
              <a:cs typeface="Calibri"/>
              <a:sym typeface="Calibri"/>
            </a:endParaRPr>
          </a:p>
          <a:p>
            <a:pPr marL="0" lvl="0" indent="0" algn="l" rtl="0">
              <a:lnSpc>
                <a:spcPct val="100000"/>
              </a:lnSpc>
              <a:spcBef>
                <a:spcPts val="1200"/>
              </a:spcBef>
              <a:spcAft>
                <a:spcPts val="1200"/>
              </a:spcAft>
              <a:buNone/>
            </a:pPr>
            <a:r>
              <a:rPr lang="en" sz="1400">
                <a:latin typeface="Calibri"/>
                <a:ea typeface="Calibri"/>
                <a:cs typeface="Calibri"/>
                <a:sym typeface="Calibri"/>
              </a:rPr>
              <a:t>Sincerely,</a:t>
            </a:r>
            <a:br>
              <a:rPr lang="en" sz="1400">
                <a:latin typeface="Calibri"/>
                <a:ea typeface="Calibri"/>
                <a:cs typeface="Calibri"/>
                <a:sym typeface="Calibri"/>
              </a:rPr>
            </a:br>
            <a:r>
              <a:rPr lang="en" sz="1400">
                <a:latin typeface="Calibri"/>
                <a:ea typeface="Calibri"/>
                <a:cs typeface="Calibri"/>
                <a:sym typeface="Calibri"/>
              </a:rPr>
              <a:t>The Management Team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Employee Engagement</a:t>
            </a:r>
            <a:endParaRPr/>
          </a:p>
        </p:txBody>
      </p:sp>
      <p:sp>
        <p:nvSpPr>
          <p:cNvPr id="148" name="Google Shape;148;p26"/>
          <p:cNvSpPr txBox="1">
            <a:spLocks noGrp="1"/>
          </p:cNvSpPr>
          <p:nvPr>
            <p:ph type="body" idx="1"/>
          </p:nvPr>
        </p:nvSpPr>
        <p:spPr>
          <a:xfrm>
            <a:off x="311700" y="1266325"/>
            <a:ext cx="8520600" cy="3521400"/>
          </a:xfrm>
          <a:prstGeom prst="rect">
            <a:avLst/>
          </a:prstGeom>
        </p:spPr>
        <p:txBody>
          <a:bodyPr spcFirstLastPara="1" wrap="square" lIns="91425" tIns="91425" rIns="91425" bIns="91425" anchor="t" anchorCtr="0">
            <a:normAutofit lnSpcReduction="10000"/>
          </a:bodyPr>
          <a:lstStyle/>
          <a:p>
            <a:pPr marL="457200" lvl="0" indent="-330200" algn="l" rtl="0">
              <a:lnSpc>
                <a:spcPct val="150000"/>
              </a:lnSpc>
              <a:spcBef>
                <a:spcPts val="1200"/>
              </a:spcBef>
              <a:spcAft>
                <a:spcPts val="0"/>
              </a:spcAft>
              <a:buSzPts val="1600"/>
              <a:buFont typeface="Calibri"/>
              <a:buChar char="❖"/>
            </a:pPr>
            <a:r>
              <a:rPr lang="en" sz="1600">
                <a:latin typeface="Calibri"/>
                <a:ea typeface="Calibri"/>
                <a:cs typeface="Calibri"/>
                <a:sym typeface="Calibri"/>
              </a:rPr>
              <a:t>Foster open communication between leadership and employees so everyone feels heard and valued</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Involve employees in decision-making to increase ownership and commitment to the organization’s success</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Clearly define organizational goals and show how each employee’s work contributes to the overall mission</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Promote a positive workplace culture built on trust, collaboration, respect, and work-life balance</a:t>
            </a:r>
            <a:endParaRPr sz="1600">
              <a:latin typeface="Calibri"/>
              <a:ea typeface="Calibri"/>
              <a:cs typeface="Calibri"/>
              <a:sym typeface="Calibri"/>
            </a:endParaRPr>
          </a:p>
          <a:p>
            <a:pPr marL="457200" lvl="0" indent="-330200" algn="l" rtl="0">
              <a:lnSpc>
                <a:spcPct val="150000"/>
              </a:lnSpc>
              <a:spcBef>
                <a:spcPts val="0"/>
              </a:spcBef>
              <a:spcAft>
                <a:spcPts val="0"/>
              </a:spcAft>
              <a:buSzPts val="1600"/>
              <a:buFont typeface="Calibri"/>
              <a:buChar char="❖"/>
            </a:pPr>
            <a:r>
              <a:rPr lang="en" sz="1600">
                <a:latin typeface="Calibri"/>
                <a:ea typeface="Calibri"/>
                <a:cs typeface="Calibri"/>
                <a:sym typeface="Calibri"/>
              </a:rPr>
              <a:t>Encourage teamwork to strengthen relationships and improve collaboration among employees</a:t>
            </a:r>
            <a:endParaRPr sz="1600">
              <a:latin typeface="Calibri"/>
              <a:ea typeface="Calibri"/>
              <a:cs typeface="Calibri"/>
              <a:sym typeface="Calibri"/>
            </a:endParaRPr>
          </a:p>
          <a:p>
            <a:pPr marL="457200" lvl="0" indent="-317500" algn="l" rtl="0">
              <a:lnSpc>
                <a:spcPct val="150000"/>
              </a:lnSpc>
              <a:spcBef>
                <a:spcPts val="0"/>
              </a:spcBef>
              <a:spcAft>
                <a:spcPts val="0"/>
              </a:spcAft>
              <a:buSzPts val="1400"/>
              <a:buFont typeface="Times New Roman"/>
              <a:buChar char="❖"/>
            </a:pPr>
            <a:r>
              <a:rPr lang="en" sz="1600">
                <a:latin typeface="Calibri"/>
                <a:ea typeface="Calibri"/>
                <a:cs typeface="Calibri"/>
                <a:sym typeface="Calibri"/>
              </a:rPr>
              <a:t>Empower employees by giving them greater autonomy and responsibility in their roles</a:t>
            </a:r>
            <a:r>
              <a:rPr lang="en"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SIPOC </a:t>
            </a:r>
            <a:endParaRPr/>
          </a:p>
        </p:txBody>
      </p:sp>
      <p:pic>
        <p:nvPicPr>
          <p:cNvPr id="154" name="Google Shape;154;p27" title="Screenshot 2026-04-08 at 8.50.58 AM.png"/>
          <p:cNvPicPr preferRelativeResize="0"/>
          <p:nvPr/>
        </p:nvPicPr>
        <p:blipFill rotWithShape="1">
          <a:blip r:embed="rId3">
            <a:alphaModFix/>
          </a:blip>
          <a:srcRect t="5776"/>
          <a:stretch/>
        </p:blipFill>
        <p:spPr>
          <a:xfrm>
            <a:off x="1891625" y="570675"/>
            <a:ext cx="5799751" cy="42634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Effectiveness Measurement Chart</a:t>
            </a:r>
            <a:endParaRPr/>
          </a:p>
        </p:txBody>
      </p:sp>
      <p:pic>
        <p:nvPicPr>
          <p:cNvPr id="160" name="Google Shape;160;p28"/>
          <p:cNvPicPr preferRelativeResize="0"/>
          <p:nvPr/>
        </p:nvPicPr>
        <p:blipFill>
          <a:blip r:embed="rId3">
            <a:alphaModFix/>
          </a:blip>
          <a:stretch>
            <a:fillRect/>
          </a:stretch>
        </p:blipFill>
        <p:spPr>
          <a:xfrm>
            <a:off x="1450625" y="1104925"/>
            <a:ext cx="6171175" cy="3394650"/>
          </a:xfrm>
          <a:prstGeom prst="rect">
            <a:avLst/>
          </a:prstGeom>
          <a:noFill/>
          <a:ln w="38100" cap="flat" cmpd="sng">
            <a:solidFill>
              <a:srgbClr val="98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Business Success </a:t>
            </a:r>
            <a:endParaRPr/>
          </a:p>
        </p:txBody>
      </p:sp>
      <p:sp>
        <p:nvSpPr>
          <p:cNvPr id="166" name="Google Shape;166;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Scarlet ReThreads has been successful by providing affordable, sustainable clothing while promoting school pride within the Rutgers community. The business meets student needs, operates with low costs through donations, and has strong expansion potential. Its focus on sustainability and community impact makes it both financially and socially successful.</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Efficiency Measurement Chart</a:t>
            </a:r>
            <a:endParaRPr/>
          </a:p>
        </p:txBody>
      </p:sp>
      <p:pic>
        <p:nvPicPr>
          <p:cNvPr id="172" name="Google Shape;172;p30"/>
          <p:cNvPicPr preferRelativeResize="0"/>
          <p:nvPr/>
        </p:nvPicPr>
        <p:blipFill>
          <a:blip r:embed="rId3">
            <a:alphaModFix/>
          </a:blip>
          <a:stretch>
            <a:fillRect/>
          </a:stretch>
        </p:blipFill>
        <p:spPr>
          <a:xfrm>
            <a:off x="1309525" y="1380050"/>
            <a:ext cx="5800725" cy="3248025"/>
          </a:xfrm>
          <a:prstGeom prst="rect">
            <a:avLst/>
          </a:prstGeom>
          <a:noFill/>
          <a:ln w="38100" cap="flat" cmpd="sng">
            <a:solidFill>
              <a:srgbClr val="98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Key Initiative to Improve the Process </a:t>
            </a:r>
            <a:endParaRPr/>
          </a:p>
        </p:txBody>
      </p:sp>
      <p:sp>
        <p:nvSpPr>
          <p:cNvPr id="178" name="Google Shape;178;p3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A standardized sorting and pricing system will be implemented to improve efficiency. This will help reduce the time needed to process donations, ensure consistent pricing, and allow products to reach the sales floor faster, increasing overall productivity.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Sell the Business?</a:t>
            </a:r>
            <a:endParaRPr/>
          </a:p>
        </p:txBody>
      </p:sp>
      <p:sp>
        <p:nvSpPr>
          <p:cNvPr id="184" name="Google Shape;184;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t>Decision:</a:t>
            </a:r>
            <a:endParaRPr b="1"/>
          </a:p>
          <a:p>
            <a:pPr marL="0" lvl="0" indent="0" algn="l" rtl="0">
              <a:spcBef>
                <a:spcPts val="1200"/>
              </a:spcBef>
              <a:spcAft>
                <a:spcPts val="0"/>
              </a:spcAft>
              <a:buNone/>
            </a:pPr>
            <a:r>
              <a:rPr lang="en"/>
              <a:t>Do not sell the business</a:t>
            </a:r>
            <a:endParaRPr/>
          </a:p>
          <a:p>
            <a:pPr marL="0" lvl="0" indent="0" algn="l" rtl="0">
              <a:spcBef>
                <a:spcPts val="1200"/>
              </a:spcBef>
              <a:spcAft>
                <a:spcPts val="0"/>
              </a:spcAft>
              <a:buNone/>
            </a:pPr>
            <a:r>
              <a:rPr lang="en" b="1"/>
              <a:t>Rationale:</a:t>
            </a:r>
            <a:endParaRPr b="1"/>
          </a:p>
          <a:p>
            <a:pPr marL="0" lvl="0" indent="0" algn="l" rtl="0">
              <a:spcBef>
                <a:spcPts val="1200"/>
              </a:spcBef>
              <a:spcAft>
                <a:spcPts val="1200"/>
              </a:spcAft>
              <a:buNone/>
            </a:pPr>
            <a:r>
              <a:rPr lang="en"/>
              <a:t>Scarlet ReThreads has strong growth potential through expansion to other universities. Maintaining ownership allows the team to continue scaling the business and increasing long-term profitability rather than giving up future value.</a:t>
            </a:r>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1485</Words>
  <Application>Microsoft Macintosh PowerPoint</Application>
  <PresentationFormat>On-screen Show (16:9)</PresentationFormat>
  <Paragraphs>102</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Open Sans</vt:lpstr>
      <vt:lpstr>PT Sans Narrow</vt:lpstr>
      <vt:lpstr>Times New Roman</vt:lpstr>
      <vt:lpstr>Tropic</vt:lpstr>
      <vt:lpstr>Scarlet ReThreads</vt:lpstr>
      <vt:lpstr>Business Concept</vt:lpstr>
      <vt:lpstr>Customer Value Proposition</vt:lpstr>
      <vt:lpstr>Vision Statement, Mission Statement, Statement of Core Values</vt:lpstr>
      <vt:lpstr>Financial and Strategic Objectives</vt:lpstr>
      <vt:lpstr>Corporate Social Responsibility  </vt:lpstr>
      <vt:lpstr>New Product/Service</vt:lpstr>
      <vt:lpstr>National Expansion </vt:lpstr>
      <vt:lpstr>Global Expansion </vt:lpstr>
      <vt:lpstr>Expansion and Entry Strategy </vt:lpstr>
      <vt:lpstr>Key Job</vt:lpstr>
      <vt:lpstr>Employee Motivation Initiatives</vt:lpstr>
      <vt:lpstr>Departure Announcement</vt:lpstr>
      <vt:lpstr>Employee Engagement</vt:lpstr>
      <vt:lpstr>SIPOC </vt:lpstr>
      <vt:lpstr>Effectiveness Measurement Chart</vt:lpstr>
      <vt:lpstr>Business Success </vt:lpstr>
      <vt:lpstr>Efficiency Measurement Chart</vt:lpstr>
      <vt:lpstr>Key Initiative to Improve the Process </vt:lpstr>
      <vt:lpstr>Sell the Business?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Emily J</cp:lastModifiedBy>
  <cp:revision>1</cp:revision>
  <dcterms:modified xsi:type="dcterms:W3CDTF">2026-09-20T22:21:37Z</dcterms:modified>
</cp:coreProperties>
</file>